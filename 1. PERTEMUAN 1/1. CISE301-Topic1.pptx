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modernComment_16B_0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735" r:id="rId2"/>
  </p:sldMasterIdLst>
  <p:notesMasterIdLst>
    <p:notesMasterId r:id="rId76"/>
  </p:notesMasterIdLst>
  <p:handoutMasterIdLst>
    <p:handoutMasterId r:id="rId77"/>
  </p:handoutMasterIdLst>
  <p:sldIdLst>
    <p:sldId id="256" r:id="rId3"/>
    <p:sldId id="414" r:id="rId4"/>
    <p:sldId id="347" r:id="rId5"/>
    <p:sldId id="348" r:id="rId6"/>
    <p:sldId id="349" r:id="rId7"/>
    <p:sldId id="350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41" r:id="rId21"/>
    <p:sldId id="366" r:id="rId22"/>
    <p:sldId id="367" r:id="rId23"/>
    <p:sldId id="415" r:id="rId24"/>
    <p:sldId id="368" r:id="rId25"/>
    <p:sldId id="369" r:id="rId26"/>
    <p:sldId id="370" r:id="rId27"/>
    <p:sldId id="371" r:id="rId28"/>
    <p:sldId id="416" r:id="rId29"/>
    <p:sldId id="373" r:id="rId30"/>
    <p:sldId id="374" r:id="rId31"/>
    <p:sldId id="375" r:id="rId32"/>
    <p:sldId id="376" r:id="rId33"/>
    <p:sldId id="377" r:id="rId34"/>
    <p:sldId id="417" r:id="rId35"/>
    <p:sldId id="420" r:id="rId36"/>
    <p:sldId id="418" r:id="rId37"/>
    <p:sldId id="419" r:id="rId38"/>
    <p:sldId id="421" r:id="rId39"/>
    <p:sldId id="422" r:id="rId40"/>
    <p:sldId id="423" r:id="rId41"/>
    <p:sldId id="424" r:id="rId42"/>
    <p:sldId id="425" r:id="rId43"/>
    <p:sldId id="426" r:id="rId44"/>
    <p:sldId id="378" r:id="rId45"/>
    <p:sldId id="379" r:id="rId46"/>
    <p:sldId id="380" r:id="rId47"/>
    <p:sldId id="381" r:id="rId48"/>
    <p:sldId id="382" r:id="rId49"/>
    <p:sldId id="383" r:id="rId50"/>
    <p:sldId id="342" r:id="rId51"/>
    <p:sldId id="385" r:id="rId52"/>
    <p:sldId id="386" r:id="rId53"/>
    <p:sldId id="387" r:id="rId54"/>
    <p:sldId id="388" r:id="rId55"/>
    <p:sldId id="389" r:id="rId56"/>
    <p:sldId id="390" r:id="rId57"/>
    <p:sldId id="391" r:id="rId58"/>
    <p:sldId id="392" r:id="rId59"/>
    <p:sldId id="393" r:id="rId60"/>
    <p:sldId id="394" r:id="rId61"/>
    <p:sldId id="395" r:id="rId62"/>
    <p:sldId id="396" r:id="rId63"/>
    <p:sldId id="397" r:id="rId64"/>
    <p:sldId id="398" r:id="rId65"/>
    <p:sldId id="399" r:id="rId66"/>
    <p:sldId id="400" r:id="rId67"/>
    <p:sldId id="405" r:id="rId68"/>
    <p:sldId id="406" r:id="rId69"/>
    <p:sldId id="407" r:id="rId70"/>
    <p:sldId id="408" r:id="rId71"/>
    <p:sldId id="409" r:id="rId72"/>
    <p:sldId id="410" r:id="rId73"/>
    <p:sldId id="411" r:id="rId74"/>
    <p:sldId id="412" r:id="rId7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F09C59C-FC10-D01F-A990-C07E24A2C21F}" name="Alfiana Ramadhani" initials="AR" userId="95871f2f79aabe3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8" autoAdjust="0"/>
    <p:restoredTop sz="96433" autoAdjust="0"/>
  </p:normalViewPr>
  <p:slideViewPr>
    <p:cSldViewPr>
      <p:cViewPr varScale="1">
        <p:scale>
          <a:sx n="78" d="100"/>
          <a:sy n="78" d="100"/>
        </p:scale>
        <p:origin x="6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60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microsoft.com/office/2018/10/relationships/authors" Target="author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comments/modernComment_16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81393E-9A7E-4C19-9244-383DD323CE22}" authorId="{3F09C59C-FC10-D01F-A990-C07E24A2C21F}" created="2026-02-11T06:23:18.0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3"/>
      <ac:spMk id="46087" creationId="{00000000-0000-0000-0000-000000000000}"/>
      <ac:txMk cp="0" len="103">
        <ac:context len="240" hash="2291000015"/>
      </ac:txMk>
    </ac:txMkLst>
    <p188:pos x="4783394" y="277761"/>
    <p188:txBody>
      <a:bodyPr/>
      <a:lstStyle/>
      <a:p>
        <a:r>
          <a:rPr lang="en-ID"/>
          <a:t>UTS
</a:t>
        </a:r>
      </a:p>
    </p188:txBody>
  </p188:cm>
  <p188:cm id="{4D85AB7B-C3BF-494B-AD0F-B5AEED50D25A}" authorId="{3F09C59C-FC10-D01F-A990-C07E24A2C21F}" created="2026-02-11T06:23:29.73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3"/>
      <ac:spMk id="46087" creationId="{00000000-0000-0000-0000-000000000000}"/>
      <ac:txMk cp="104" len="21">
        <ac:context len="240" hash="2291000015"/>
      </ac:txMk>
    </ac:txMkLst>
    <p188:pos x="3505200" y="2067232"/>
    <p188:txBody>
      <a:bodyPr/>
      <a:lstStyle/>
      <a:p>
        <a:r>
          <a:rPr lang="en-ID"/>
          <a:t>UAS
</a:t>
        </a:r>
      </a:p>
    </p188:txBody>
  </p188:cm>
  <p188:cm id="{9A6D6CE1-2B68-4681-BD64-60B7A3F89F19}" authorId="{3F09C59C-FC10-D01F-A990-C07E24A2C21F}" created="2026-02-11T06:23:38.76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63"/>
      <ac:spMk id="46087" creationId="{00000000-0000-0000-0000-000000000000}"/>
      <ac:txMk cp="153" len="86">
        <ac:context len="240" hash="2291000015"/>
      </ac:txMk>
    </ac:txMkLst>
    <p188:pos x="4842387" y="2834148"/>
    <p188:txBody>
      <a:bodyPr/>
      <a:lstStyle/>
      <a:p>
        <a:r>
          <a:rPr lang="en-ID"/>
          <a:t>UAS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fld id="{45E75BB7-CF13-4622-8CEC-78BD0C45ED94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89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fld id="{8CBD0520-8491-47C1-9B33-2CBB64DAD025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33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68AA87-80E4-459C-9FB1-2F5E6B79AE8B}" type="slidenum">
              <a:rPr lang="ar-SA" smtClean="0"/>
              <a:pPr/>
              <a:t>1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B0A290-B6A2-4CBD-8433-47983E62DD71}" type="slidenum">
              <a:rPr lang="ar-SA" smtClean="0"/>
              <a:pPr/>
              <a:t>2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46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525E74-BC79-400C-8843-1824282F6FBE}" type="slidenum">
              <a:rPr lang="ar-SA" smtClean="0"/>
              <a:pPr/>
              <a:t>3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43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515A64-9800-4AD6-84D3-425BA424083A}" type="slidenum">
              <a:rPr lang="ar-SA" smtClean="0"/>
              <a:pPr/>
              <a:t>4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8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35776E-E247-45B3-ACBD-D9B2D825B3CF}" type="slidenum">
              <a:rPr lang="ar-SA" smtClean="0"/>
              <a:pPr/>
              <a:t>5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91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C62A49-BB29-4839-869E-C3CCED310873}" type="slidenum">
              <a:rPr lang="ar-SA" smtClean="0"/>
              <a:pPr/>
              <a:t>6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86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EC15C6-1A5A-429F-B877-77227C79CDA1}" type="slidenum">
              <a:rPr lang="ar-SA" smtClean="0"/>
              <a:pPr/>
              <a:t>7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07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6A301C-E918-4FD0-A2A9-856577380406}" type="slidenum">
              <a:rPr lang="ar-SA" smtClean="0"/>
              <a:pPr/>
              <a:t>8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65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9DCDC8-B8F2-4C01-B5FB-8136C7B77033}" type="slidenum">
              <a:rPr lang="ar-SA" smtClean="0"/>
              <a:pPr/>
              <a:t>9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49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3B6109-DE69-450F-BFA4-0D92EAF00003}" type="slidenum">
              <a:rPr lang="ar-SA" smtClean="0"/>
              <a:pPr/>
              <a:t>10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9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76AB0F-8D10-4047-864C-2D4B7B5BC9B6}" type="slidenum">
              <a:rPr lang="ar-SA" smtClean="0"/>
              <a:pPr/>
              <a:t>11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85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10440D-61F7-457B-9E85-70A9EBDC8A71}" type="slidenum">
              <a:rPr lang="ar-SA" smtClean="0"/>
              <a:pPr/>
              <a:t>12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18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1C9051-83CF-4F41-A86E-6920E1B65587}" type="slidenum">
              <a:rPr lang="ar-SA" smtClean="0"/>
              <a:pPr/>
              <a:t>13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72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87C2EF-68E4-411D-BF62-BE5AE6E566C7}" type="slidenum">
              <a:rPr lang="ar-SA" smtClean="0"/>
              <a:pPr/>
              <a:t>14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22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7759C5-9851-4429-B0A2-5ECA4A95C226}" type="slidenum">
              <a:rPr lang="ar-SA" smtClean="0"/>
              <a:pPr/>
              <a:t>15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86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926419-39DB-48F2-9D95-F8AFA1F3FF24}" type="slidenum">
              <a:rPr lang="ar-SA" smtClean="0"/>
              <a:pPr/>
              <a:t>16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45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DC7F15-9252-4165-817F-A65035BEF96D}" type="slidenum">
              <a:rPr lang="ar-SA" smtClean="0"/>
              <a:pPr/>
              <a:t>17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78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F51EF3-D1DC-4D89-B9CB-57EB17A55D7E}" type="slidenum">
              <a:rPr lang="ar-SA" smtClean="0"/>
              <a:pPr/>
              <a:t>18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57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3B1B92-A390-4ADB-8F3E-EE6D7F78BD50}" type="slidenum">
              <a:rPr lang="ar-SA" smtClean="0"/>
              <a:pPr/>
              <a:t>19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01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BA97AF-3A13-4D02-98EF-81BC90BC7C44}" type="slidenum">
              <a:rPr lang="ar-SA" smtClean="0"/>
              <a:pPr/>
              <a:t>20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938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107616-AD76-43D3-BF8D-9C04BD7BDBAC}" type="slidenum">
              <a:rPr lang="ar-SA" smtClean="0"/>
              <a:pPr/>
              <a:t>21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88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0E9FEA-F5FA-4973-BBFB-28B31C1FACF2}" type="slidenum">
              <a:rPr lang="ar-SA" smtClean="0"/>
              <a:pPr/>
              <a:t>22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64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DC702-A377-43EA-BE8C-0260E229ABF7}" type="slidenum">
              <a:rPr lang="ar-SA" smtClean="0"/>
              <a:pPr/>
              <a:t>23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679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CAF70D-B19F-41E5-8A3C-13753112E45A}" type="slidenum">
              <a:rPr lang="ar-SA" smtClean="0"/>
              <a:pPr/>
              <a:t>24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385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07A581-3A97-4FDB-9E60-DCB65D45ED9F}" type="slidenum">
              <a:rPr lang="ar-SA" smtClean="0"/>
              <a:pPr/>
              <a:t>25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242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995A5B-E596-4A75-A583-9D1DAD59719D}" type="slidenum">
              <a:rPr lang="ar-SA" smtClean="0"/>
              <a:pPr/>
              <a:t>26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Exponent:</a:t>
            </a:r>
            <a:r>
              <a:rPr lang="en-US" baseline="0" dirty="0"/>
              <a:t> 2 bits; 1 for sign of exponent, and 1 for magnitude of exponent.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8169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924903-6F0F-486C-A021-AD9F2965C803}" type="slidenum">
              <a:rPr lang="ar-SA" smtClean="0"/>
              <a:pPr/>
              <a:t>27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920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C3482F-109B-46AD-BF4F-44135B42B551}" type="slidenum">
              <a:rPr lang="ar-SA" smtClean="0"/>
              <a:pPr/>
              <a:t>28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139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D760C8-3105-4AD4-AB13-711E616BC4C4}" type="slidenum">
              <a:rPr lang="ar-SA" smtClean="0"/>
              <a:pPr/>
              <a:t>29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368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4072CA-1D48-491B-9994-933773279A21}" type="slidenum">
              <a:rPr lang="ar-SA" smtClean="0"/>
              <a:pPr/>
              <a:t>30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572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91F196-64AC-4D8C-8AEC-7C34A9C3D718}" type="slidenum">
              <a:rPr lang="ar-SA" smtClean="0"/>
              <a:pPr/>
              <a:t>31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344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AFD43F-EE80-4F2F-B49C-E0E8678339E5}" type="slidenum">
              <a:rPr lang="ar-SA" smtClean="0"/>
              <a:pPr/>
              <a:t>32</a:t>
            </a:fld>
            <a:endParaRPr 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723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91F196-64AC-4D8C-8AEC-7C34A9C3D718}" type="slidenum">
              <a:rPr lang="ar-SA" smtClean="0"/>
              <a:pPr/>
              <a:t>33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245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91F196-64AC-4D8C-8AEC-7C34A9C3D718}" type="slidenum">
              <a:rPr lang="ar-SA" smtClean="0"/>
              <a:pPr/>
              <a:t>34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922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91F196-64AC-4D8C-8AEC-7C34A9C3D718}" type="slidenum">
              <a:rPr lang="ar-SA" smtClean="0"/>
              <a:pPr/>
              <a:t>35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610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91F196-64AC-4D8C-8AEC-7C34A9C3D718}" type="slidenum">
              <a:rPr lang="ar-SA" smtClean="0"/>
              <a:pPr/>
              <a:t>36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357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9FAA95-409A-42A6-9F0E-88044D657C2A}" type="slidenum">
              <a:rPr lang="ar-SA" smtClean="0"/>
              <a:pPr/>
              <a:t>43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346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6FC60A-BA55-43C6-8E9F-00B41A777602}" type="slidenum">
              <a:rPr lang="ar-SA" smtClean="0"/>
              <a:pPr/>
              <a:t>44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364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C5277B-1E17-4211-AE8F-64ACDD1E2630}" type="slidenum">
              <a:rPr lang="ar-SA" smtClean="0"/>
              <a:pPr/>
              <a:t>45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052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88E2A9-C1F1-42BB-921A-A73605B5F83C}" type="slidenum">
              <a:rPr lang="ar-SA" smtClean="0"/>
              <a:pPr/>
              <a:t>46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46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FE531B-11CC-4280-9B86-FFBC4C725D30}" type="slidenum">
              <a:rPr lang="ar-SA" smtClean="0"/>
              <a:pPr/>
              <a:t>47</a:t>
            </a:fld>
            <a:endParaRPr 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257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002F9B-34A4-4D82-B6AB-32D9E755261F}" type="slidenum">
              <a:rPr lang="ar-SA" smtClean="0"/>
              <a:pPr/>
              <a:t>48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389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F9726F-0B06-4956-8F49-0ECBD90DF128}" type="slidenum">
              <a:rPr lang="ar-SA" smtClean="0"/>
              <a:pPr/>
              <a:t>49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292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AD5A53-5EFE-4ADD-8920-A194C05499AF}" type="slidenum">
              <a:rPr lang="ar-SA" smtClean="0"/>
              <a:pPr/>
              <a:t>50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056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AE8060-2D21-45E8-A611-D378FFDA194F}" type="slidenum">
              <a:rPr lang="ar-SA" smtClean="0"/>
              <a:pPr/>
              <a:t>51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267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12F5DB-1BAF-49CD-A789-462364BD6CF6}" type="slidenum">
              <a:rPr lang="ar-SA" smtClean="0"/>
              <a:pPr/>
              <a:t>52</a:t>
            </a:fld>
            <a:endParaRPr 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630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7066B9-0460-4993-8D49-B06E70C530C3}" type="slidenum">
              <a:rPr lang="ar-SA" smtClean="0"/>
              <a:pPr/>
              <a:t>53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592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E2AFAF-7673-4527-B510-C251BEAA7E51}" type="slidenum">
              <a:rPr lang="ar-SA" smtClean="0"/>
              <a:pPr/>
              <a:t>54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454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4BAE5-1143-4185-9425-C5A4DE820A91}" type="slidenum">
              <a:rPr lang="ar-SA" smtClean="0"/>
              <a:pPr/>
              <a:t>55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673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0FDFC8-1354-4067-8E9A-AFF015D26CBA}" type="slidenum">
              <a:rPr lang="ar-SA" smtClean="0"/>
              <a:pPr/>
              <a:t>56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687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E63F4B-7711-496C-AFB2-FBEC22EE6601}" type="slidenum">
              <a:rPr lang="ar-SA" smtClean="0"/>
              <a:pPr/>
              <a:t>57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44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18F2BD-7FEB-4395-990A-8EA7BE6965B9}" type="slidenum">
              <a:rPr lang="ar-SA" smtClean="0"/>
              <a:pPr/>
              <a:t>58</a:t>
            </a:fld>
            <a:endParaRPr 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483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1F17BF-6A7D-4E87-AD47-A0DC977F82D5}" type="slidenum">
              <a:rPr lang="ar-SA" smtClean="0"/>
              <a:pPr/>
              <a:t>59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707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FE9023-A688-4833-AE98-5D8847F90CA4}" type="slidenum">
              <a:rPr lang="ar-SA" smtClean="0"/>
              <a:pPr/>
              <a:t>60</a:t>
            </a:fld>
            <a:endParaRPr 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545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7E1EFD-239D-4B2A-9055-8FBAEF215559}" type="slidenum">
              <a:rPr lang="ar-SA" smtClean="0"/>
              <a:pPr/>
              <a:t>61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541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7DBE5E-5E00-40F9-BF8A-A157D078A081}" type="slidenum">
              <a:rPr lang="ar-SA" smtClean="0"/>
              <a:pPr/>
              <a:t>62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4117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C2EA4E-931C-408A-86D7-7261BE26DAB8}" type="slidenum">
              <a:rPr lang="ar-SA" smtClean="0"/>
              <a:pPr/>
              <a:t>63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7334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A505FA-1A81-4C66-AA8C-76134BF17361}" type="slidenum">
              <a:rPr lang="ar-SA" smtClean="0"/>
              <a:pPr/>
              <a:t>64</a:t>
            </a:fld>
            <a:endParaRPr 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6259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650327-FBAC-4BF2-AEEC-824D55296840}" type="slidenum">
              <a:rPr lang="ar-SA" smtClean="0"/>
              <a:pPr/>
              <a:t>65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9445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705C9B-BBB5-498D-A660-80824370E86B}" type="slidenum">
              <a:rPr lang="ar-SA" smtClean="0"/>
              <a:pPr/>
              <a:t>66</a:t>
            </a:fld>
            <a:endParaRPr lang="en-US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997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0A0AEE-8BAB-4066-84A9-9A9089F453D2}" type="slidenum">
              <a:rPr lang="ar-SA" smtClean="0"/>
              <a:pPr/>
              <a:t>67</a:t>
            </a:fld>
            <a:endParaRPr 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9390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5BBD1C-1263-47B6-BE04-05EFB5513D7C}" type="slidenum">
              <a:rPr lang="ar-SA" smtClean="0"/>
              <a:pPr/>
              <a:t>68</a:t>
            </a:fld>
            <a:endParaRPr 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0304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F7F409-59C0-433A-9A36-3ACAEDAAEC6F}" type="slidenum">
              <a:rPr lang="ar-SA" smtClean="0"/>
              <a:pPr/>
              <a:t>69</a:t>
            </a:fld>
            <a:endParaRPr lang="en-US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342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69724D-D37A-45AE-BBA0-55D5D9049B6B}" type="slidenum">
              <a:rPr lang="ar-SA" smtClean="0"/>
              <a:pPr/>
              <a:t>70</a:t>
            </a:fld>
            <a:endParaRPr lang="en-US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7920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730DA2-CB2A-4F91-B98A-B0D73CB646B3}" type="slidenum">
              <a:rPr lang="ar-SA" smtClean="0"/>
              <a:pPr/>
              <a:t>71</a:t>
            </a:fld>
            <a:endParaRPr lang="en-US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6477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7FBDB9-85AE-462A-AD5C-32A558F13D32}" type="slidenum">
              <a:rPr lang="ar-SA" smtClean="0"/>
              <a:pPr/>
              <a:t>72</a:t>
            </a:fld>
            <a:endParaRPr lang="en-US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1237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362631-6A49-4393-9642-6B84DDD79B33}" type="slidenum">
              <a:rPr lang="ar-SA" smtClean="0"/>
              <a:pPr/>
              <a:t>73</a:t>
            </a:fld>
            <a:endParaRPr lang="en-US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5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972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591D3-B1C9-4987-84F0-B65A383DB469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2D6C9-CAB0-4278-8FC0-B3860E2E3B8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E45C8-55C6-40D0-BD26-78ECD6F9FD20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CC26B-0FE7-4D68-A960-73C9C05AA79D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CB519-02B3-4E34-868D-ABE50BFB9FB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76F59-2BE8-4CF5-A990-1D13E6189096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1C4D1-AAA4-4C57-BA36-BBDEA8027146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D5DE6-EEC6-4B6B-8ECA-87967868533B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CDD98-A085-4738-836E-4AC199706AE7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0922C-EEF2-41EA-A217-DBAEF21D953B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9C754-7EF7-4F06-B11B-BB9DDBFBFA28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A0DD2-47AC-43D9-8828-D5DFE660873B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D30F-42C5-492E-81C4-918082666BD9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4DC7AF-8FE0-4A27-9E32-8081C33FCBB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023505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5AF7CB-CFA4-4900-A74C-48C9A3EAA04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391231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C3B4D8-8B6F-407E-BAB7-3D8A17F524A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502417"/>
      </p:ext>
    </p:extLst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840516-6FD0-4790-809F-37F3D8A913B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591224"/>
      </p:ext>
    </p:extLst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298C28-BE2D-4781-9309-8B3BA9EEC0B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200358"/>
      </p:ext>
    </p:extLst>
  </p:cSld>
  <p:clrMapOvr>
    <a:masterClrMapping/>
  </p:clrMapOvr>
  <p:transition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59B9A2-1138-460E-8839-59DF35B7321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364237"/>
      </p:ext>
    </p:extLst>
  </p:cSld>
  <p:clrMapOvr>
    <a:masterClrMapping/>
  </p:clrMapOvr>
  <p:transition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102B49-BA9C-421B-A1CD-7B7D3B91EB4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464847"/>
      </p:ext>
    </p:extLst>
  </p:cSld>
  <p:clrMapOvr>
    <a:masterClrMapping/>
  </p:clrMapOvr>
  <p:transition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6EF48D-FA57-4542-803C-998B879AE7D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402546"/>
      </p:ext>
    </p:extLst>
  </p:cSld>
  <p:clrMapOvr>
    <a:masterClrMapping/>
  </p:clrMapOvr>
  <p:transition>
    <p:zo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4A87F9-894D-41C7-BF6F-871BA26234D2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632789"/>
      </p:ext>
    </p:extLst>
  </p:cSld>
  <p:clrMapOvr>
    <a:masterClrMapping/>
  </p:clrMapOvr>
  <p:transition>
    <p:zo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62BD51-2A4B-4AD4-A3F0-A29EAAEF95D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654472"/>
      </p:ext>
    </p:extLst>
  </p:cSld>
  <p:clrMapOvr>
    <a:masterClrMapping/>
  </p:clrMapOvr>
  <p:transition>
    <p:zo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C2ADC3-F7C2-4151-9F8B-F58D387EEEFA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610615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r>
              <a:rPr lang="en-US"/>
              <a:t>CISE301_Topic1</a:t>
            </a:r>
          </a:p>
        </p:txBody>
      </p:sp>
      <p:sp>
        <p:nvSpPr>
          <p:cNvPr id="962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BAACFA28-3BFD-4382-A1AE-60915A95C706}" type="slidenum">
              <a:rPr lang="ar-SA"/>
              <a:pPr>
                <a:defRPr/>
              </a:pPr>
              <a:t>‹#›</a:t>
            </a:fld>
            <a:endParaRPr lang="en-US"/>
          </a:p>
        </p:txBody>
      </p:sp>
      <p:sp>
        <p:nvSpPr>
          <p:cNvPr id="96263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96264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265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96266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30E5951-0FA6-4383-9E93-40E7A425259D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  <a:cs typeface="+mn-cs"/>
              </a:rPr>
              <a:pPr/>
              <a:t>‹#›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222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ransition>
    <p:zo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B_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6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8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1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4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51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60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6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3686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C04E47-69C1-4D78-B2AE-5BFF74E9F712}" type="slidenum">
              <a:rPr lang="ar-SA" smtClean="0"/>
              <a:pPr/>
              <a:t>1</a:t>
            </a:fld>
            <a:endParaRPr lang="en-US"/>
          </a:p>
        </p:txBody>
      </p:sp>
      <p:sp>
        <p:nvSpPr>
          <p:cNvPr id="36869" name="Rectangle 7"/>
          <p:cNvSpPr>
            <a:spLocks noChangeArrowheads="1"/>
          </p:cNvSpPr>
          <p:nvPr/>
        </p:nvSpPr>
        <p:spPr bwMode="auto">
          <a:xfrm>
            <a:off x="304800" y="685800"/>
            <a:ext cx="8458200" cy="212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/>
            <a:r>
              <a:rPr lang="en-US" sz="3900" b="1">
                <a:solidFill>
                  <a:schemeClr val="tx2"/>
                </a:solidFill>
                <a:latin typeface="Garamond" pitchFamily="18" charset="0"/>
              </a:rPr>
              <a:t>       CISE-301: Numerical Methods</a:t>
            </a:r>
            <a:br>
              <a:rPr lang="en-US" sz="3500" b="1">
                <a:solidFill>
                  <a:schemeClr val="tx2"/>
                </a:solidFill>
                <a:latin typeface="Garamond" pitchFamily="18" charset="0"/>
              </a:rPr>
            </a:br>
            <a:r>
              <a:rPr lang="en-US" sz="3500">
                <a:solidFill>
                  <a:schemeClr val="tx2"/>
                </a:solidFill>
                <a:latin typeface="Garamond" pitchFamily="18" charset="0"/>
              </a:rPr>
              <a:t>Topic 1:</a:t>
            </a:r>
            <a:br>
              <a:rPr lang="en-US" sz="3500">
                <a:solidFill>
                  <a:schemeClr val="tx2"/>
                </a:solidFill>
                <a:latin typeface="Garamond" pitchFamily="18" charset="0"/>
              </a:rPr>
            </a:br>
            <a:r>
              <a:rPr lang="en-US" sz="3500">
                <a:solidFill>
                  <a:schemeClr val="tx2"/>
                </a:solidFill>
                <a:latin typeface="Garamond" pitchFamily="18" charset="0"/>
              </a:rPr>
              <a:t> </a:t>
            </a:r>
            <a:r>
              <a:rPr lang="en-US" sz="2700" b="1">
                <a:solidFill>
                  <a:schemeClr val="tx2"/>
                </a:solidFill>
                <a:latin typeface="Garamond" pitchFamily="18" charset="0"/>
              </a:rPr>
              <a:t>Introduction to Numerical Methods and Taylor Series</a:t>
            </a:r>
            <a:br>
              <a:rPr lang="en-US" sz="3500">
                <a:solidFill>
                  <a:schemeClr val="tx2"/>
                </a:solidFill>
                <a:latin typeface="Garamond" pitchFamily="18" charset="0"/>
              </a:rPr>
            </a:br>
            <a:r>
              <a:rPr lang="en-US" sz="3100" b="1" u="sng">
                <a:solidFill>
                  <a:schemeClr val="tx2"/>
                </a:solidFill>
                <a:latin typeface="Garamond" pitchFamily="18" charset="0"/>
              </a:rPr>
              <a:t>Lectures 1-4:</a:t>
            </a:r>
            <a:r>
              <a:rPr lang="en-US" sz="3500">
                <a:solidFill>
                  <a:schemeClr val="tx2"/>
                </a:solidFill>
                <a:latin typeface="Garamond" pitchFamily="18" charset="0"/>
              </a:rPr>
              <a:t> </a:t>
            </a:r>
          </a:p>
        </p:txBody>
      </p:sp>
      <p:sp>
        <p:nvSpPr>
          <p:cNvPr id="3687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304800" y="3048000"/>
            <a:ext cx="8534400" cy="31242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3400" dirty="0"/>
          </a:p>
          <a:p>
            <a:pPr eaLnBrk="1" hangingPunct="1">
              <a:lnSpc>
                <a:spcPct val="80000"/>
              </a:lnSpc>
            </a:pPr>
            <a:r>
              <a:rPr lang="en-US" sz="3800" dirty="0"/>
              <a:t>KFUPM</a:t>
            </a:r>
          </a:p>
          <a:p>
            <a:pPr eaLnBrk="1" hangingPunct="1">
              <a:lnSpc>
                <a:spcPct val="80000"/>
              </a:lnSpc>
            </a:pPr>
            <a:endParaRPr lang="en-US" sz="1400" dirty="0"/>
          </a:p>
        </p:txBody>
      </p:sp>
      <p:sp>
        <p:nvSpPr>
          <p:cNvPr id="36871" name="Rectangle 11"/>
          <p:cNvSpPr>
            <a:spLocks noChangeArrowheads="1"/>
          </p:cNvSpPr>
          <p:nvPr/>
        </p:nvSpPr>
        <p:spPr bwMode="auto">
          <a:xfrm>
            <a:off x="457200" y="1676400"/>
            <a:ext cx="8229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3789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86F6DC-B85B-4221-9D1C-DBF91FC45E11}" type="slidenum">
              <a:rPr lang="ar-SA" smtClean="0"/>
              <a:pPr/>
              <a:t>2</a:t>
            </a:fld>
            <a:endParaRPr lang="en-US"/>
          </a:p>
        </p:txBody>
      </p:sp>
      <p:sp>
        <p:nvSpPr>
          <p:cNvPr id="37893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400"/>
              <a:t>Lecture 1</a:t>
            </a:r>
            <a:br>
              <a:rPr lang="en-US"/>
            </a:br>
            <a:r>
              <a:rPr lang="en-US" sz="3600" b="1">
                <a:solidFill>
                  <a:srgbClr val="3333FF"/>
                </a:solidFill>
              </a:rPr>
              <a:t>Introduction to Numerical Methods</a:t>
            </a:r>
          </a:p>
        </p:txBody>
      </p:sp>
      <p:sp>
        <p:nvSpPr>
          <p:cNvPr id="37894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597150"/>
          </a:xfrm>
        </p:spPr>
        <p:txBody>
          <a:bodyPr/>
          <a:lstStyle/>
          <a:p>
            <a:pPr algn="l" eaLnBrk="1" hangingPunct="1">
              <a:buFont typeface="Wingdings" pitchFamily="2" charset="2"/>
              <a:buChar char="p"/>
            </a:pPr>
            <a:r>
              <a:rPr lang="en-US"/>
              <a:t> What are </a:t>
            </a:r>
            <a:r>
              <a:rPr lang="en-US" sz="2200" b="1">
                <a:solidFill>
                  <a:srgbClr val="3333FF"/>
                </a:solidFill>
              </a:rPr>
              <a:t>NUMERICAL METHODS</a:t>
            </a:r>
            <a:r>
              <a:rPr lang="en-US"/>
              <a:t>?</a:t>
            </a:r>
          </a:p>
          <a:p>
            <a:pPr algn="l" eaLnBrk="1" hangingPunct="1">
              <a:buFont typeface="Wingdings" pitchFamily="2" charset="2"/>
              <a:buChar char="p"/>
            </a:pPr>
            <a:r>
              <a:rPr lang="en-US"/>
              <a:t> Why do we need them?</a:t>
            </a:r>
          </a:p>
          <a:p>
            <a:pPr algn="l" eaLnBrk="1" hangingPunct="1">
              <a:buFont typeface="Wingdings" pitchFamily="2" charset="2"/>
              <a:buChar char="p"/>
            </a:pPr>
            <a:r>
              <a:rPr lang="en-US"/>
              <a:t> Topics covered in </a:t>
            </a:r>
            <a:r>
              <a:rPr lang="en-US">
                <a:solidFill>
                  <a:srgbClr val="3333FF"/>
                </a:solidFill>
              </a:rPr>
              <a:t>CISE301</a:t>
            </a:r>
            <a:r>
              <a:rPr lang="en-US"/>
              <a:t>.</a:t>
            </a:r>
          </a:p>
          <a:p>
            <a:pPr algn="l" eaLnBrk="1" hangingPunct="1">
              <a:buFont typeface="Wingdings" pitchFamily="2" charset="2"/>
              <a:buChar char="p"/>
            </a:pPr>
            <a:endParaRPr lang="en-US"/>
          </a:p>
          <a:p>
            <a:pPr algn="l" eaLnBrk="1" hangingPunct="1"/>
            <a:r>
              <a:rPr lang="en-US" sz="2000" b="1"/>
              <a:t>Reading Assignment:</a:t>
            </a:r>
            <a:r>
              <a:rPr lang="en-US" sz="2000"/>
              <a:t> Pages 3-10 of textbook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9A1D0BD-0C79-4312-B25A-9378259A00EF}" type="slidenum">
              <a:rPr lang="ar-SA" smtClean="0"/>
              <a:pPr/>
              <a:t>3</a:t>
            </a:fld>
            <a:endParaRPr lang="en-US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Numerical Methods</a:t>
            </a:r>
            <a:endParaRPr lang="en-US" altLang="ar-SA"/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77988"/>
            <a:ext cx="7850187" cy="4111625"/>
          </a:xfrm>
          <a:ln>
            <a:solidFill>
              <a:schemeClr val="bg2"/>
            </a:solidFill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b="1"/>
              <a:t>Numerical Methods:</a:t>
            </a:r>
            <a:r>
              <a:rPr lang="en-US" altLang="en-US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/>
              <a:t>   </a:t>
            </a:r>
            <a:r>
              <a:rPr lang="en-US" altLang="en-US" sz="2400"/>
              <a:t>Algorithms that are used to obtain numerical solutions of a mathematical problem.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b="1"/>
              <a:t>Why do we need them?</a:t>
            </a:r>
            <a:endParaRPr lang="en-US" altLang="en-US"/>
          </a:p>
          <a:p>
            <a:pPr eaLnBrk="1" hangingPunct="1">
              <a:buFont typeface="Wingdings" pitchFamily="2" charset="2"/>
              <a:buNone/>
            </a:pPr>
            <a:r>
              <a:rPr lang="en-US" altLang="en-US"/>
              <a:t>    1. </a:t>
            </a:r>
            <a:r>
              <a:rPr lang="en-US" altLang="en-US" sz="2400"/>
              <a:t>No analytical solution exists,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/>
              <a:t>     2. An analytical solution is difficult to obtain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/>
              <a:t>         or not practical.</a:t>
            </a:r>
            <a:endParaRPr lang="en-US" altLang="ar-SA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399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ED92E1-6846-4EF6-81D3-EC6042682A4B}" type="slidenum">
              <a:rPr lang="ar-SA" smtClean="0"/>
              <a:pPr/>
              <a:t>4</a:t>
            </a:fld>
            <a:endParaRPr lang="en-US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do we need?</a:t>
            </a:r>
            <a:endParaRPr lang="en-US" altLang="ar-SA"/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77988"/>
            <a:ext cx="7850187" cy="4111625"/>
          </a:xfrm>
          <a:ln>
            <a:solidFill>
              <a:schemeClr val="bg2"/>
            </a:solidFill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b="1"/>
              <a:t>Basic Needs in the Numerical Methods: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Practical: 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000"/>
              <a:t>     Can be computed in a reasonable amount of time.</a:t>
            </a:r>
          </a:p>
          <a:p>
            <a:pPr lvl="1" eaLnBrk="1" hangingPunct="1"/>
            <a:r>
              <a:rPr lang="en-US" altLang="ar-SA"/>
              <a:t>Accurate: </a:t>
            </a:r>
          </a:p>
          <a:p>
            <a:pPr lvl="2" eaLnBrk="1" hangingPunct="1"/>
            <a:r>
              <a:rPr lang="en-US" altLang="ar-SA"/>
              <a:t>Good approximate to the true value,</a:t>
            </a:r>
          </a:p>
          <a:p>
            <a:pPr lvl="2" eaLnBrk="1" hangingPunct="1"/>
            <a:r>
              <a:rPr lang="en-US" altLang="ar-SA"/>
              <a:t>Information about the approximation error   (Bounds, error order,… 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096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155FD51-D0D6-44AD-B481-A01D1B8D19B4}" type="slidenum">
              <a:rPr lang="ar-SA" smtClean="0"/>
              <a:pPr/>
              <a:t>5</a:t>
            </a:fld>
            <a:endParaRPr lang="en-US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Outlines of the Course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7013" cy="4530725"/>
          </a:xfrm>
          <a:solidFill>
            <a:schemeClr val="accent2"/>
          </a:solidFill>
          <a:ln>
            <a:solidFill>
              <a:srgbClr val="FF0066"/>
            </a:solidFill>
          </a:ln>
        </p:spPr>
        <p:txBody>
          <a:bodyPr/>
          <a:lstStyle/>
          <a:p>
            <a:pPr eaLnBrk="1" hangingPunct="1"/>
            <a:r>
              <a:rPr lang="en-US" sz="2400"/>
              <a:t>Taylor Theorem</a:t>
            </a:r>
          </a:p>
          <a:p>
            <a:pPr eaLnBrk="1" hangingPunct="1"/>
            <a:r>
              <a:rPr lang="en-US" sz="2400"/>
              <a:t>Number Representation</a:t>
            </a:r>
          </a:p>
          <a:p>
            <a:pPr eaLnBrk="1" hangingPunct="1"/>
            <a:r>
              <a:rPr lang="en-US" sz="2400"/>
              <a:t>Solution of nonlinear Equations</a:t>
            </a:r>
          </a:p>
          <a:p>
            <a:pPr eaLnBrk="1" hangingPunct="1"/>
            <a:r>
              <a:rPr lang="en-US" sz="2400"/>
              <a:t>Interpolation</a:t>
            </a:r>
          </a:p>
          <a:p>
            <a:pPr eaLnBrk="1" hangingPunct="1"/>
            <a:r>
              <a:rPr lang="en-US" sz="2400"/>
              <a:t>Numerical Differentiation</a:t>
            </a:r>
          </a:p>
          <a:p>
            <a:pPr eaLnBrk="1" hangingPunct="1"/>
            <a:r>
              <a:rPr lang="en-US" sz="2400"/>
              <a:t>Numerical Integration</a:t>
            </a:r>
          </a:p>
        </p:txBody>
      </p:sp>
      <p:sp>
        <p:nvSpPr>
          <p:cNvPr id="4096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9788" y="1600200"/>
            <a:ext cx="4037012" cy="4530725"/>
          </a:xfrm>
          <a:solidFill>
            <a:schemeClr val="accent2"/>
          </a:solidFill>
          <a:ln>
            <a:solidFill>
              <a:srgbClr val="FF0066"/>
            </a:solidFill>
          </a:ln>
        </p:spPr>
        <p:txBody>
          <a:bodyPr/>
          <a:lstStyle/>
          <a:p>
            <a:pPr eaLnBrk="1" hangingPunct="1"/>
            <a:r>
              <a:rPr lang="en-US" sz="2400"/>
              <a:t>Solution of linear Equations</a:t>
            </a:r>
          </a:p>
          <a:p>
            <a:pPr eaLnBrk="1" hangingPunct="1"/>
            <a:r>
              <a:rPr lang="en-US" sz="2400"/>
              <a:t>Least Squares curve fitting</a:t>
            </a:r>
          </a:p>
          <a:p>
            <a:pPr eaLnBrk="1" hangingPunct="1"/>
            <a:r>
              <a:rPr lang="en-US" sz="2400"/>
              <a:t>Solution of ordinary differential equations</a:t>
            </a:r>
          </a:p>
          <a:p>
            <a:pPr eaLnBrk="1" hangingPunct="1"/>
            <a:r>
              <a:rPr lang="en-US" sz="2400"/>
              <a:t>Solution of Partial differential equations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0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260365-A47B-449F-AA7E-B1AF4D08F370}" type="slidenum">
              <a:rPr lang="ar-SA" smtClean="0"/>
              <a:pPr/>
              <a:t>6</a:t>
            </a:fld>
            <a:endParaRPr 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SA"/>
              <a:t>Solution of Nonlinear Equations</a:t>
            </a:r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tx2"/>
            </a:solidFill>
          </a:ln>
        </p:spPr>
        <p:txBody>
          <a:bodyPr/>
          <a:lstStyle/>
          <a:p>
            <a:pPr eaLnBrk="1" hangingPunct="1"/>
            <a:r>
              <a:rPr lang="en-US" altLang="ar-SA" sz="2100"/>
              <a:t>Some simple equations can be solved analytically:</a:t>
            </a:r>
            <a:r>
              <a:rPr lang="en-US" altLang="ar-SA"/>
              <a:t> </a:t>
            </a:r>
          </a:p>
          <a:p>
            <a:pPr eaLnBrk="1" hangingPunct="1"/>
            <a:endParaRPr lang="en-US" altLang="ar-SA"/>
          </a:p>
          <a:p>
            <a:pPr eaLnBrk="1" hangingPunct="1"/>
            <a:endParaRPr lang="en-US" altLang="ar-SA"/>
          </a:p>
          <a:p>
            <a:pPr eaLnBrk="1" hangingPunct="1"/>
            <a:endParaRPr lang="en-US" altLang="ar-SA" sz="2100"/>
          </a:p>
          <a:p>
            <a:pPr eaLnBrk="1" hangingPunct="1">
              <a:buFont typeface="Wingdings" pitchFamily="2" charset="2"/>
              <a:buNone/>
            </a:pPr>
            <a:endParaRPr lang="en-US" altLang="ar-SA" sz="2100"/>
          </a:p>
          <a:p>
            <a:pPr eaLnBrk="1" hangingPunct="1"/>
            <a:endParaRPr lang="en-US" altLang="ar-SA" sz="2100"/>
          </a:p>
          <a:p>
            <a:pPr eaLnBrk="1" hangingPunct="1"/>
            <a:r>
              <a:rPr lang="en-US" altLang="ar-SA" sz="2100"/>
              <a:t>Many other equations have no analytical solution: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955675" y="2151063"/>
          <a:ext cx="7502525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990360" progId="Equation.3">
                  <p:embed/>
                </p:oleObj>
              </mc:Choice>
              <mc:Fallback>
                <p:oleObj name="Equation" r:id="rId3" imgW="2743200" imgH="990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2151063"/>
                        <a:ext cx="7502525" cy="188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873125" y="4730750"/>
          <a:ext cx="75088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36760" imgH="507960" progId="Equation.3">
                  <p:embed/>
                </p:oleObj>
              </mc:Choice>
              <mc:Fallback>
                <p:oleObj name="Equation" r:id="rId5" imgW="2336760" imgH="507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4730750"/>
                        <a:ext cx="7508875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1F638D-88F6-418B-BF95-74C91EAC2D38}" type="slidenum">
              <a:rPr lang="ar-SA" smtClean="0"/>
              <a:pPr/>
              <a:t>7</a:t>
            </a:fld>
            <a:endParaRPr lang="en-US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pPr eaLnBrk="1" hangingPunct="1"/>
            <a:r>
              <a:rPr lang="en-US" altLang="en-US" sz="4000"/>
              <a:t>Methods for Solving Nonlinear Equations</a:t>
            </a:r>
            <a:endParaRPr lang="en-US" altLang="ar-SA" sz="4000"/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77988"/>
            <a:ext cx="7850187" cy="4111625"/>
          </a:xfrm>
          <a:ln>
            <a:solidFill>
              <a:schemeClr val="bg2"/>
            </a:solidFill>
          </a:ln>
        </p:spPr>
        <p:txBody>
          <a:bodyPr/>
          <a:lstStyle/>
          <a:p>
            <a:pPr eaLnBrk="1" hangingPunct="1">
              <a:buFontTx/>
              <a:buChar char="o"/>
            </a:pPr>
            <a:endParaRPr lang="en-US" altLang="en-US" b="1"/>
          </a:p>
          <a:p>
            <a:pPr eaLnBrk="1" hangingPunct="1">
              <a:buFontTx/>
              <a:buChar char="o"/>
            </a:pPr>
            <a:r>
              <a:rPr lang="en-US" altLang="en-US" b="1"/>
              <a:t>Bisection Method</a:t>
            </a:r>
          </a:p>
          <a:p>
            <a:pPr eaLnBrk="1" hangingPunct="1">
              <a:buFontTx/>
              <a:buChar char="o"/>
            </a:pPr>
            <a:endParaRPr lang="en-US" altLang="en-US" b="1"/>
          </a:p>
          <a:p>
            <a:pPr eaLnBrk="1" hangingPunct="1">
              <a:buFontTx/>
              <a:buChar char="o"/>
            </a:pPr>
            <a:r>
              <a:rPr lang="en-US" altLang="en-US" b="1"/>
              <a:t>Newton-Raphson Method</a:t>
            </a:r>
          </a:p>
          <a:p>
            <a:pPr eaLnBrk="1" hangingPunct="1">
              <a:buFontTx/>
              <a:buChar char="o"/>
            </a:pPr>
            <a:endParaRPr lang="en-US" altLang="en-US" b="1"/>
          </a:p>
          <a:p>
            <a:pPr eaLnBrk="1" hangingPunct="1">
              <a:buFontTx/>
              <a:buChar char="o"/>
            </a:pPr>
            <a:r>
              <a:rPr lang="en-US" altLang="en-US" b="1"/>
              <a:t>Secant Method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0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B1462FF-98D4-4229-80C1-2845E4042CEA}" type="slidenum">
              <a:rPr lang="ar-SA" smtClean="0"/>
              <a:pPr/>
              <a:t>8</a:t>
            </a:fld>
            <a:endParaRPr lang="en-US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153400" cy="1139825"/>
          </a:xfrm>
        </p:spPr>
        <p:txBody>
          <a:bodyPr/>
          <a:lstStyle/>
          <a:p>
            <a:pPr eaLnBrk="1" hangingPunct="1"/>
            <a:r>
              <a:rPr lang="en-US" altLang="ar-SA" sz="4000"/>
              <a:t>Solution of Systems of Linear Equations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255713" y="1862138"/>
          <a:ext cx="5487987" cy="415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200" imgH="1587240" progId="Equation.3">
                  <p:embed/>
                </p:oleObj>
              </mc:Choice>
              <mc:Fallback>
                <p:oleObj name="Equation" r:id="rId3" imgW="2095200" imgH="1587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713" y="1862138"/>
                        <a:ext cx="5487987" cy="415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30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959DDA7-A6FF-45A3-AD82-B699D5B951BD}" type="slidenum">
              <a:rPr lang="ar-SA" smtClean="0"/>
              <a:pPr/>
              <a:t>9</a:t>
            </a:fld>
            <a:endParaRPr lang="en-US"/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SA"/>
              <a:t>Cramer’s Rule is Not Practical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439738" y="1493838"/>
          <a:ext cx="7424737" cy="468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5880" imgH="2539800" progId="Equation.3">
                  <p:embed/>
                </p:oleObj>
              </mc:Choice>
              <mc:Fallback>
                <p:oleObj name="Equation" r:id="rId3" imgW="4025880" imgH="253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8" y="1493838"/>
                        <a:ext cx="7424737" cy="4687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30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1B1B0B-12D9-4A15-8288-515CBD3FB42A}" type="slidenum">
              <a:rPr lang="ar-SA" smtClean="0"/>
              <a:pPr/>
              <a:t>10</a:t>
            </a:fld>
            <a:endParaRPr lang="en-US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Methods for Solving Systems of Linear Equations</a:t>
            </a:r>
            <a:endParaRPr lang="en-US" altLang="ar-SA" sz="4000"/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77988"/>
            <a:ext cx="7850187" cy="4111625"/>
          </a:xfrm>
          <a:ln>
            <a:solidFill>
              <a:schemeClr val="bg2"/>
            </a:solidFill>
          </a:ln>
        </p:spPr>
        <p:txBody>
          <a:bodyPr/>
          <a:lstStyle/>
          <a:p>
            <a:pPr eaLnBrk="1" hangingPunct="1">
              <a:buFontTx/>
              <a:buChar char="o"/>
            </a:pPr>
            <a:r>
              <a:rPr lang="en-US" altLang="en-US" b="1"/>
              <a:t>Naive Gaussian Elimination</a:t>
            </a:r>
          </a:p>
          <a:p>
            <a:pPr eaLnBrk="1" hangingPunct="1">
              <a:buFontTx/>
              <a:buChar char="o"/>
            </a:pPr>
            <a:endParaRPr lang="en-US" altLang="en-US" b="1"/>
          </a:p>
          <a:p>
            <a:pPr eaLnBrk="1" hangingPunct="1">
              <a:buFontTx/>
              <a:buChar char="o"/>
            </a:pPr>
            <a:r>
              <a:rPr lang="en-US" altLang="en-US" b="1"/>
              <a:t>Gaussian Elimination with Scaled Partial Pivoting</a:t>
            </a:r>
          </a:p>
          <a:p>
            <a:pPr eaLnBrk="1" hangingPunct="1">
              <a:buFontTx/>
              <a:buChar char="o"/>
            </a:pPr>
            <a:endParaRPr lang="en-US" altLang="en-US" b="1"/>
          </a:p>
          <a:p>
            <a:pPr eaLnBrk="1" hangingPunct="1">
              <a:buFontTx/>
              <a:buChar char="o"/>
            </a:pPr>
            <a:r>
              <a:rPr lang="en-US" altLang="en-US" b="1"/>
              <a:t>Algorithm for Tri-diagonal Equations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1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01DF00-D9DE-447E-93ED-7C8067988258}" type="slidenum">
              <a:rPr lang="ar-SA" smtClean="0"/>
              <a:pPr/>
              <a:t>11</a:t>
            </a:fld>
            <a:endParaRPr lang="en-US"/>
          </a:p>
        </p:txBody>
      </p:sp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SA"/>
              <a:t>Curve Fitting</a:t>
            </a:r>
          </a:p>
        </p:txBody>
      </p:sp>
      <p:sp>
        <p:nvSpPr>
          <p:cNvPr id="4103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bg2"/>
            </a:solidFill>
          </a:ln>
        </p:spPr>
        <p:txBody>
          <a:bodyPr/>
          <a:lstStyle/>
          <a:p>
            <a:pPr eaLnBrk="1" hangingPunct="1"/>
            <a:r>
              <a:rPr lang="en-US" altLang="ar-SA"/>
              <a:t>Given a set of data:</a:t>
            </a:r>
          </a:p>
          <a:p>
            <a:pPr eaLnBrk="1" hangingPunct="1"/>
            <a:endParaRPr lang="en-US" altLang="ar-SA"/>
          </a:p>
          <a:p>
            <a:pPr eaLnBrk="1" hangingPunct="1"/>
            <a:endParaRPr lang="en-US" altLang="ar-SA"/>
          </a:p>
          <a:p>
            <a:pPr eaLnBrk="1" hangingPunct="1"/>
            <a:endParaRPr lang="en-US" altLang="ar-SA"/>
          </a:p>
          <a:p>
            <a:pPr eaLnBrk="1" hangingPunct="1"/>
            <a:endParaRPr lang="en-US" altLang="ar-SA"/>
          </a:p>
          <a:p>
            <a:pPr eaLnBrk="1" hangingPunct="1"/>
            <a:r>
              <a:rPr lang="en-US" altLang="ar-SA"/>
              <a:t>Select a curve that best fits the data. One choice is to find the curve so that the sum of the square of the error is minimized.</a:t>
            </a:r>
          </a:p>
        </p:txBody>
      </p:sp>
      <p:sp>
        <p:nvSpPr>
          <p:cNvPr id="4104" name="Line 4"/>
          <p:cNvSpPr>
            <a:spLocks noChangeShapeType="1"/>
          </p:cNvSpPr>
          <p:nvPr/>
        </p:nvSpPr>
        <p:spPr bwMode="auto">
          <a:xfrm flipV="1">
            <a:off x="1219200" y="26670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Line 5"/>
          <p:cNvSpPr>
            <a:spLocks noChangeShapeType="1"/>
          </p:cNvSpPr>
          <p:nvPr/>
        </p:nvSpPr>
        <p:spPr bwMode="auto">
          <a:xfrm>
            <a:off x="1219200" y="34290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Line 6"/>
          <p:cNvSpPr>
            <a:spLocks noChangeShapeType="1"/>
          </p:cNvSpPr>
          <p:nvPr/>
        </p:nvSpPr>
        <p:spPr bwMode="auto">
          <a:xfrm>
            <a:off x="1219200" y="29718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8" name="Object 7"/>
          <p:cNvGraphicFramePr>
            <a:graphicFrameLocks noChangeAspect="1"/>
          </p:cNvGraphicFramePr>
          <p:nvPr/>
        </p:nvGraphicFramePr>
        <p:xfrm>
          <a:off x="1219200" y="2667000"/>
          <a:ext cx="32766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094694" imgH="2677268" progId="Word.Document.8">
                  <p:embed/>
                </p:oleObj>
              </mc:Choice>
              <mc:Fallback>
                <p:oleObj name="Document" r:id="rId3" imgW="5094694" imgH="2677268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667000"/>
                        <a:ext cx="32766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Line 8"/>
          <p:cNvSpPr>
            <a:spLocks noChangeShapeType="1"/>
          </p:cNvSpPr>
          <p:nvPr/>
        </p:nvSpPr>
        <p:spPr bwMode="auto">
          <a:xfrm>
            <a:off x="39624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9"/>
          <p:cNvSpPr>
            <a:spLocks noChangeShapeType="1"/>
          </p:cNvSpPr>
          <p:nvPr/>
        </p:nvSpPr>
        <p:spPr bwMode="auto">
          <a:xfrm>
            <a:off x="12192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0"/>
          <p:cNvSpPr>
            <a:spLocks noChangeShapeType="1"/>
          </p:cNvSpPr>
          <p:nvPr/>
        </p:nvSpPr>
        <p:spPr bwMode="auto">
          <a:xfrm flipV="1">
            <a:off x="5715000" y="20574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10" name="Line 11"/>
          <p:cNvSpPr>
            <a:spLocks noChangeShapeType="1"/>
          </p:cNvSpPr>
          <p:nvPr/>
        </p:nvSpPr>
        <p:spPr bwMode="auto">
          <a:xfrm>
            <a:off x="5410200" y="37338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11" name="Oval 12"/>
          <p:cNvSpPr>
            <a:spLocks noChangeArrowheads="1"/>
          </p:cNvSpPr>
          <p:nvPr/>
        </p:nvSpPr>
        <p:spPr bwMode="auto">
          <a:xfrm>
            <a:off x="5715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Oval 13"/>
          <p:cNvSpPr>
            <a:spLocks noChangeArrowheads="1"/>
          </p:cNvSpPr>
          <p:nvPr/>
        </p:nvSpPr>
        <p:spPr bwMode="auto">
          <a:xfrm>
            <a:off x="65532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Oval 14"/>
          <p:cNvSpPr>
            <a:spLocks noChangeArrowheads="1"/>
          </p:cNvSpPr>
          <p:nvPr/>
        </p:nvSpPr>
        <p:spPr bwMode="auto">
          <a:xfrm>
            <a:off x="73152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5"/>
          <p:cNvSpPr>
            <a:spLocks noChangeShapeType="1"/>
          </p:cNvSpPr>
          <p:nvPr/>
        </p:nvSpPr>
        <p:spPr bwMode="auto">
          <a:xfrm flipV="1">
            <a:off x="5791200" y="22098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1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4958CD-FFD7-434A-99F3-89089941E8BB}" type="slidenum">
              <a:rPr lang="ar-SA" smtClean="0"/>
              <a:pPr/>
              <a:t>12</a:t>
            </a:fld>
            <a:endParaRPr lang="en-US"/>
          </a:p>
        </p:txBody>
      </p:sp>
      <p:sp>
        <p:nvSpPr>
          <p:cNvPr id="51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SA"/>
              <a:t>Interpolation</a:t>
            </a:r>
          </a:p>
        </p:txBody>
      </p:sp>
      <p:sp>
        <p:nvSpPr>
          <p:cNvPr id="5128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n-US" altLang="ar-SA"/>
              <a:t>Given a set of data:</a:t>
            </a:r>
          </a:p>
          <a:p>
            <a:pPr eaLnBrk="1" hangingPunct="1"/>
            <a:endParaRPr lang="en-US" altLang="ar-SA"/>
          </a:p>
          <a:p>
            <a:pPr eaLnBrk="1" hangingPunct="1"/>
            <a:endParaRPr lang="en-US" altLang="ar-SA"/>
          </a:p>
          <a:p>
            <a:pPr eaLnBrk="1" hangingPunct="1"/>
            <a:endParaRPr lang="en-US" altLang="ar-SA"/>
          </a:p>
          <a:p>
            <a:pPr eaLnBrk="1" hangingPunct="1"/>
            <a:endParaRPr lang="en-US" altLang="ar-SA" b="1"/>
          </a:p>
          <a:p>
            <a:pPr eaLnBrk="1" hangingPunct="1"/>
            <a:r>
              <a:rPr lang="en-US" altLang="ar-SA"/>
              <a:t>Find a polynomial </a:t>
            </a:r>
            <a:r>
              <a:rPr lang="en-US" altLang="ar-SA" i="1"/>
              <a:t>P(x) </a:t>
            </a:r>
            <a:r>
              <a:rPr lang="en-US" altLang="ar-SA"/>
              <a:t>whose graph passes through all tabulated points.</a:t>
            </a:r>
            <a:r>
              <a:rPr lang="en-US" altLang="ar-SA" b="1"/>
              <a:t> </a:t>
            </a:r>
            <a:endParaRPr lang="en-US" altLang="ar-SA"/>
          </a:p>
        </p:txBody>
      </p:sp>
      <p:sp>
        <p:nvSpPr>
          <p:cNvPr id="5129" name="Line 4"/>
          <p:cNvSpPr>
            <a:spLocks noChangeShapeType="1"/>
          </p:cNvSpPr>
          <p:nvPr/>
        </p:nvSpPr>
        <p:spPr bwMode="auto">
          <a:xfrm flipV="1">
            <a:off x="1219200" y="26670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0" name="Line 5"/>
          <p:cNvSpPr>
            <a:spLocks noChangeShapeType="1"/>
          </p:cNvSpPr>
          <p:nvPr/>
        </p:nvSpPr>
        <p:spPr bwMode="auto">
          <a:xfrm>
            <a:off x="1219200" y="34290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Line 6"/>
          <p:cNvSpPr>
            <a:spLocks noChangeShapeType="1"/>
          </p:cNvSpPr>
          <p:nvPr/>
        </p:nvSpPr>
        <p:spPr bwMode="auto">
          <a:xfrm>
            <a:off x="1219200" y="29718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" name="Object 7"/>
          <p:cNvGraphicFramePr>
            <a:graphicFrameLocks noChangeAspect="1"/>
          </p:cNvGraphicFramePr>
          <p:nvPr/>
        </p:nvGraphicFramePr>
        <p:xfrm>
          <a:off x="1219200" y="2670175"/>
          <a:ext cx="2786063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091790" imgH="2679786" progId="Word.Document.8">
                  <p:embed/>
                </p:oleObj>
              </mc:Choice>
              <mc:Fallback>
                <p:oleObj name="Document" r:id="rId3" imgW="5091790" imgH="2679786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670175"/>
                        <a:ext cx="2786063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Line 8"/>
          <p:cNvSpPr>
            <a:spLocks noChangeShapeType="1"/>
          </p:cNvSpPr>
          <p:nvPr/>
        </p:nvSpPr>
        <p:spPr bwMode="auto">
          <a:xfrm>
            <a:off x="39624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3" name="Line 9"/>
          <p:cNvSpPr>
            <a:spLocks noChangeShapeType="1"/>
          </p:cNvSpPr>
          <p:nvPr/>
        </p:nvSpPr>
        <p:spPr bwMode="auto">
          <a:xfrm>
            <a:off x="1219200" y="2667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3" name="Object 10"/>
          <p:cNvGraphicFramePr>
            <a:graphicFrameLocks noChangeAspect="1"/>
          </p:cNvGraphicFramePr>
          <p:nvPr/>
        </p:nvGraphicFramePr>
        <p:xfrm>
          <a:off x="1371600" y="5334000"/>
          <a:ext cx="67056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42920" imgH="228600" progId="Equation.3">
                  <p:embed/>
                </p:oleObj>
              </mc:Choice>
              <mc:Fallback>
                <p:oleObj name="Equation" r:id="rId5" imgW="194292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334000"/>
                        <a:ext cx="6705600" cy="74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" name="Line 11"/>
          <p:cNvSpPr>
            <a:spLocks noChangeShapeType="1"/>
          </p:cNvSpPr>
          <p:nvPr/>
        </p:nvSpPr>
        <p:spPr bwMode="auto">
          <a:xfrm flipV="1">
            <a:off x="5715000" y="20574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35" name="Line 12"/>
          <p:cNvSpPr>
            <a:spLocks noChangeShapeType="1"/>
          </p:cNvSpPr>
          <p:nvPr/>
        </p:nvSpPr>
        <p:spPr bwMode="auto">
          <a:xfrm>
            <a:off x="5410200" y="37338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36" name="Oval 13"/>
          <p:cNvSpPr>
            <a:spLocks noChangeArrowheads="1"/>
          </p:cNvSpPr>
          <p:nvPr/>
        </p:nvSpPr>
        <p:spPr bwMode="auto">
          <a:xfrm>
            <a:off x="5715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7" name="Oval 14"/>
          <p:cNvSpPr>
            <a:spLocks noChangeArrowheads="1"/>
          </p:cNvSpPr>
          <p:nvPr/>
        </p:nvSpPr>
        <p:spPr bwMode="auto">
          <a:xfrm>
            <a:off x="64008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8" name="Oval 15"/>
          <p:cNvSpPr>
            <a:spLocks noChangeArrowheads="1"/>
          </p:cNvSpPr>
          <p:nvPr/>
        </p:nvSpPr>
        <p:spPr bwMode="auto">
          <a:xfrm>
            <a:off x="73152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Freeform 16"/>
          <p:cNvSpPr>
            <a:spLocks/>
          </p:cNvSpPr>
          <p:nvPr/>
        </p:nvSpPr>
        <p:spPr bwMode="auto">
          <a:xfrm>
            <a:off x="5715000" y="2286000"/>
            <a:ext cx="2209800" cy="1295400"/>
          </a:xfrm>
          <a:custGeom>
            <a:avLst/>
            <a:gdLst>
              <a:gd name="T0" fmla="*/ 0 w 1392"/>
              <a:gd name="T1" fmla="*/ 2147483647 h 816"/>
              <a:gd name="T2" fmla="*/ 2147483647 w 1392"/>
              <a:gd name="T3" fmla="*/ 2147483647 h 816"/>
              <a:gd name="T4" fmla="*/ 2147483647 w 1392"/>
              <a:gd name="T5" fmla="*/ 2147483647 h 816"/>
              <a:gd name="T6" fmla="*/ 2147483647 w 1392"/>
              <a:gd name="T7" fmla="*/ 0 h 816"/>
              <a:gd name="T8" fmla="*/ 0 60000 65536"/>
              <a:gd name="T9" fmla="*/ 0 60000 65536"/>
              <a:gd name="T10" fmla="*/ 0 60000 65536"/>
              <a:gd name="T11" fmla="*/ 0 60000 65536"/>
              <a:gd name="T12" fmla="*/ 0 w 1392"/>
              <a:gd name="T13" fmla="*/ 0 h 816"/>
              <a:gd name="T14" fmla="*/ 1392 w 1392"/>
              <a:gd name="T15" fmla="*/ 816 h 8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92" h="816">
                <a:moveTo>
                  <a:pt x="0" y="816"/>
                </a:moveTo>
                <a:cubicBezTo>
                  <a:pt x="132" y="616"/>
                  <a:pt x="264" y="416"/>
                  <a:pt x="432" y="288"/>
                </a:cubicBezTo>
                <a:cubicBezTo>
                  <a:pt x="600" y="160"/>
                  <a:pt x="848" y="96"/>
                  <a:pt x="1008" y="48"/>
                </a:cubicBezTo>
                <a:cubicBezTo>
                  <a:pt x="1168" y="0"/>
                  <a:pt x="1280" y="0"/>
                  <a:pt x="139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1D882A-F64C-4AFC-873D-0F122053AB2E}" type="slidenum">
              <a:rPr lang="ar-SA" smtClean="0"/>
              <a:pPr/>
              <a:t>13</a:t>
            </a:fld>
            <a:endParaRPr lang="en-US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 for Curve Fitting  </a:t>
            </a:r>
            <a:endParaRPr lang="en-US" altLang="ar-SA"/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77988"/>
            <a:ext cx="7850187" cy="4111625"/>
          </a:xfrm>
          <a:ln>
            <a:solidFill>
              <a:schemeClr val="bg2"/>
            </a:solidFill>
          </a:ln>
        </p:spPr>
        <p:txBody>
          <a:bodyPr/>
          <a:lstStyle/>
          <a:p>
            <a:pPr eaLnBrk="1" hangingPunct="1">
              <a:buFontTx/>
              <a:buChar char="o"/>
            </a:pPr>
            <a:r>
              <a:rPr lang="en-US" altLang="en-US" b="1"/>
              <a:t>Least Squares</a:t>
            </a:r>
          </a:p>
          <a:p>
            <a:pPr lvl="1" eaLnBrk="1" hangingPunct="1">
              <a:buFontTx/>
              <a:buChar char="o"/>
            </a:pPr>
            <a:r>
              <a:rPr lang="en-US" altLang="en-US" b="1"/>
              <a:t>Linear Regression</a:t>
            </a:r>
          </a:p>
          <a:p>
            <a:pPr lvl="1" eaLnBrk="1" hangingPunct="1">
              <a:buFontTx/>
              <a:buChar char="o"/>
            </a:pPr>
            <a:r>
              <a:rPr lang="en-US" altLang="en-US" b="1"/>
              <a:t>Nonlinear Least Squares Problems</a:t>
            </a:r>
          </a:p>
          <a:p>
            <a:pPr eaLnBrk="1" hangingPunct="1">
              <a:buFontTx/>
              <a:buChar char="o"/>
            </a:pPr>
            <a:endParaRPr lang="en-US" altLang="en-US" b="1"/>
          </a:p>
          <a:p>
            <a:pPr eaLnBrk="1" hangingPunct="1">
              <a:buFontTx/>
              <a:buChar char="o"/>
            </a:pPr>
            <a:r>
              <a:rPr lang="en-US" altLang="en-US" b="1"/>
              <a:t>Interpolation</a:t>
            </a:r>
          </a:p>
          <a:p>
            <a:pPr lvl="1" eaLnBrk="1" hangingPunct="1">
              <a:buFontTx/>
              <a:buChar char="o"/>
            </a:pPr>
            <a:r>
              <a:rPr lang="en-US" altLang="en-US" b="1"/>
              <a:t>Newton Polynomial Interpolation</a:t>
            </a:r>
          </a:p>
          <a:p>
            <a:pPr lvl="1" eaLnBrk="1" hangingPunct="1">
              <a:buFontTx/>
              <a:buChar char="o"/>
            </a:pPr>
            <a:r>
              <a:rPr lang="en-US" altLang="en-US" b="1"/>
              <a:t>Lagrange Interpolation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5F880C7-CC51-4402-A1BA-FDEC78420406}" type="slidenum">
              <a:rPr lang="ar-SA" smtClean="0"/>
              <a:pPr/>
              <a:t>14</a:t>
            </a:fld>
            <a:endParaRPr lang="en-US"/>
          </a:p>
        </p:txBody>
      </p:sp>
      <p:sp>
        <p:nvSpPr>
          <p:cNvPr id="61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SA"/>
              <a:t>Integration</a:t>
            </a:r>
          </a:p>
        </p:txBody>
      </p:sp>
      <p:sp>
        <p:nvSpPr>
          <p:cNvPr id="6151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tx2"/>
            </a:solidFill>
          </a:ln>
        </p:spPr>
        <p:txBody>
          <a:bodyPr/>
          <a:lstStyle/>
          <a:p>
            <a:pPr eaLnBrk="1" hangingPunct="1"/>
            <a:r>
              <a:rPr lang="en-US" altLang="en-US"/>
              <a:t>Some functions can be integrated analytically:</a:t>
            </a:r>
            <a:endParaRPr lang="en-US" altLang="ar-SA"/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992188" y="3017838"/>
          <a:ext cx="7234237" cy="290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71800" imgH="1193760" progId="Equation.3">
                  <p:embed/>
                </p:oleObj>
              </mc:Choice>
              <mc:Fallback>
                <p:oleObj name="Equation" r:id="rId3" imgW="2971800" imgH="11937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3017838"/>
                        <a:ext cx="7234237" cy="290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50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BFE8D66-ED4D-4B39-ADF0-0B35478E9E09}" type="slidenum">
              <a:rPr lang="ar-SA" smtClean="0"/>
              <a:pPr/>
              <a:t>15</a:t>
            </a:fld>
            <a:endParaRPr lang="en-US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Methods for Numerical Integration</a:t>
            </a:r>
            <a:endParaRPr lang="en-US" altLang="ar-SA" sz="4000"/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77988"/>
            <a:ext cx="7850187" cy="4111625"/>
          </a:xfrm>
          <a:ln>
            <a:solidFill>
              <a:schemeClr val="bg2"/>
            </a:solidFill>
          </a:ln>
        </p:spPr>
        <p:txBody>
          <a:bodyPr/>
          <a:lstStyle/>
          <a:p>
            <a:pPr eaLnBrk="1" hangingPunct="1">
              <a:buFontTx/>
              <a:buChar char="o"/>
            </a:pPr>
            <a:r>
              <a:rPr lang="en-US" altLang="en-US" b="1"/>
              <a:t>Upper and Lower Sums</a:t>
            </a:r>
          </a:p>
          <a:p>
            <a:pPr eaLnBrk="1" hangingPunct="1">
              <a:buFontTx/>
              <a:buChar char="o"/>
            </a:pPr>
            <a:endParaRPr lang="en-US" altLang="en-US" b="1"/>
          </a:p>
          <a:p>
            <a:pPr eaLnBrk="1" hangingPunct="1">
              <a:buFontTx/>
              <a:buChar char="o"/>
            </a:pPr>
            <a:r>
              <a:rPr lang="en-US" altLang="en-US" b="1"/>
              <a:t>Trapezoid Method</a:t>
            </a:r>
          </a:p>
          <a:p>
            <a:pPr eaLnBrk="1" hangingPunct="1">
              <a:buFontTx/>
              <a:buChar char="o"/>
            </a:pPr>
            <a:endParaRPr lang="en-US" altLang="en-US" b="1"/>
          </a:p>
          <a:p>
            <a:pPr eaLnBrk="1" hangingPunct="1">
              <a:buFontTx/>
              <a:buChar char="o"/>
            </a:pPr>
            <a:r>
              <a:rPr lang="en-US" altLang="en-US" b="1"/>
              <a:t>Romberg Method</a:t>
            </a:r>
          </a:p>
          <a:p>
            <a:pPr eaLnBrk="1" hangingPunct="1">
              <a:buFontTx/>
              <a:buChar char="o"/>
            </a:pPr>
            <a:endParaRPr lang="en-US" altLang="en-US" b="1"/>
          </a:p>
          <a:p>
            <a:pPr eaLnBrk="1" hangingPunct="1">
              <a:buFontTx/>
              <a:buChar char="o"/>
            </a:pPr>
            <a:r>
              <a:rPr lang="en-US" altLang="en-US" b="1"/>
              <a:t>Gauss Quadrature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6A8CD9-A250-4124-9C67-5A75EC0B56B2}" type="slidenum">
              <a:rPr lang="ar-SA" smtClean="0"/>
              <a:pPr/>
              <a:t>16</a:t>
            </a:fld>
            <a:endParaRPr lang="en-US"/>
          </a:p>
        </p:txBody>
      </p:sp>
      <p:sp>
        <p:nvSpPr>
          <p:cNvPr id="71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SA" sz="3600"/>
              <a:t>Solution of Ordinary Differential Equations</a:t>
            </a:r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671513" y="1676400"/>
          <a:ext cx="7118350" cy="418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79480" imgH="1574640" progId="Equation.3">
                  <p:embed/>
                </p:oleObj>
              </mc:Choice>
              <mc:Fallback>
                <p:oleObj name="Equation" r:id="rId3" imgW="2679480" imgH="1574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1676400"/>
                        <a:ext cx="7118350" cy="418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382596-20C5-43ED-A30B-15C8BAB9316F}" type="slidenum">
              <a:rPr lang="ar-SA" smtClean="0"/>
              <a:pPr/>
              <a:t>17</a:t>
            </a:fld>
            <a:endParaRPr lang="en-US"/>
          </a:p>
        </p:txBody>
      </p:sp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ar-SA" sz="3600"/>
              <a:t>Solution of Partial Differential Equations</a:t>
            </a: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bg2"/>
            </a:solidFill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ar-SA"/>
              <a:t>Partial Differential Equations are more difficult to solve than ordinary differential equations:</a:t>
            </a:r>
            <a:endParaRPr lang="en-US" altLang="en-US"/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1052513" y="3236913"/>
          <a:ext cx="6734175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8920" imgH="685800" progId="Equation.3">
                  <p:embed/>
                </p:oleObj>
              </mc:Choice>
              <mc:Fallback>
                <p:oleObj name="Equation" r:id="rId3" imgW="215892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236913"/>
                        <a:ext cx="6734175" cy="213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Date Placeholder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608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821B8F-17ED-42D6-97B6-78D9798E8D3B}" type="slidenum">
              <a:rPr lang="ar-SA" smtClean="0"/>
              <a:pPr/>
              <a:t>18</a:t>
            </a:fld>
            <a:endParaRPr lang="en-US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3352800" cy="4724400"/>
          </a:xfrm>
          <a:solidFill>
            <a:schemeClr val="accent2"/>
          </a:solidFill>
          <a:ln>
            <a:solidFill>
              <a:srgbClr val="FF0066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1900" b="1"/>
          </a:p>
          <a:p>
            <a:pPr eaLnBrk="1" hangingPunct="1">
              <a:lnSpc>
                <a:spcPct val="90000"/>
              </a:lnSpc>
            </a:pPr>
            <a:r>
              <a:rPr lang="en-US" altLang="en-US" sz="1900" b="1"/>
              <a:t>Numerical Methods:</a:t>
            </a:r>
            <a:r>
              <a:rPr lang="en-US" altLang="en-US" sz="190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900"/>
              <a:t>    Algorithms that are used to obtain numerical solution of a mathematical problem.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900" b="1"/>
              <a:t>We need them when</a:t>
            </a:r>
            <a:endParaRPr lang="en-US" altLang="en-US" sz="19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900"/>
              <a:t>    No analytical solution exists or it is difficult to obtain it.</a:t>
            </a:r>
            <a:endParaRPr lang="en-US" sz="2000"/>
          </a:p>
        </p:txBody>
      </p:sp>
      <p:sp>
        <p:nvSpPr>
          <p:cNvPr id="4608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0" y="1905000"/>
            <a:ext cx="4876800" cy="4256088"/>
          </a:xfrm>
          <a:solidFill>
            <a:schemeClr val="accent2"/>
          </a:solidFill>
          <a:ln>
            <a:solidFill>
              <a:srgbClr val="FF0066"/>
            </a:solidFill>
          </a:ln>
        </p:spPr>
        <p:txBody>
          <a:bodyPr/>
          <a:lstStyle/>
          <a:p>
            <a:pPr eaLnBrk="1" hangingPunct="1"/>
            <a:r>
              <a:rPr lang="en-US" sz="2100" dirty="0"/>
              <a:t>Solution of Nonlinear Equations</a:t>
            </a:r>
          </a:p>
          <a:p>
            <a:pPr eaLnBrk="1" hangingPunct="1"/>
            <a:r>
              <a:rPr lang="en-US" sz="2100" dirty="0"/>
              <a:t>Solution of Linear Equations</a:t>
            </a:r>
          </a:p>
          <a:p>
            <a:pPr eaLnBrk="1" hangingPunct="1"/>
            <a:r>
              <a:rPr lang="en-US" sz="2100" dirty="0"/>
              <a:t>Curve Fitting </a:t>
            </a:r>
          </a:p>
          <a:p>
            <a:pPr lvl="1" eaLnBrk="1" hangingPunct="1"/>
            <a:r>
              <a:rPr lang="en-US" sz="1900" dirty="0"/>
              <a:t>Least Squares</a:t>
            </a:r>
          </a:p>
          <a:p>
            <a:pPr lvl="1" eaLnBrk="1" hangingPunct="1"/>
            <a:r>
              <a:rPr lang="en-US" sz="1900" dirty="0"/>
              <a:t>Interpolation</a:t>
            </a:r>
          </a:p>
          <a:p>
            <a:pPr eaLnBrk="1" hangingPunct="1"/>
            <a:r>
              <a:rPr lang="en-US" sz="2100" dirty="0"/>
              <a:t>Numerical Integration</a:t>
            </a:r>
          </a:p>
          <a:p>
            <a:pPr eaLnBrk="1" hangingPunct="1"/>
            <a:r>
              <a:rPr lang="en-US" sz="2100" dirty="0"/>
              <a:t>Numerical Differentiation </a:t>
            </a:r>
          </a:p>
          <a:p>
            <a:pPr eaLnBrk="1" hangingPunct="1"/>
            <a:r>
              <a:rPr lang="en-US" sz="2100" dirty="0"/>
              <a:t>Solution of Ordinary Differential Equations</a:t>
            </a:r>
          </a:p>
          <a:p>
            <a:pPr eaLnBrk="1" hangingPunct="1"/>
            <a:r>
              <a:rPr lang="en-US" sz="2100" dirty="0"/>
              <a:t>Solution of Partial Differential Equations</a:t>
            </a:r>
          </a:p>
        </p:txBody>
      </p:sp>
      <p:sp>
        <p:nvSpPr>
          <p:cNvPr id="46088" name="Text Box 5"/>
          <p:cNvSpPr txBox="1">
            <a:spLocks noChangeArrowheads="1"/>
          </p:cNvSpPr>
          <p:nvPr/>
        </p:nvSpPr>
        <p:spPr bwMode="auto">
          <a:xfrm>
            <a:off x="3810000" y="1447800"/>
            <a:ext cx="4876800" cy="466725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>
                <a:solidFill>
                  <a:srgbClr val="FF0066"/>
                </a:solidFill>
                <a:latin typeface="Arial" charset="0"/>
              </a:rPr>
              <a:t>Topics Covered in the Course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710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891A5B-8F24-4ED0-8306-BE58B88CFC7A}" type="slidenum">
              <a:rPr lang="ar-SA" smtClean="0"/>
              <a:pPr/>
              <a:t>19</a:t>
            </a:fld>
            <a:endParaRPr lang="en-US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0250"/>
            <a:ext cx="6477000" cy="290195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  <a:buFont typeface="Wingdings" pitchFamily="2" charset="2"/>
              <a:buChar char="p"/>
            </a:pPr>
            <a:r>
              <a:rPr lang="en-US" sz="2200" dirty="0"/>
              <a:t> Number Representation</a:t>
            </a:r>
          </a:p>
          <a:p>
            <a:pPr algn="l" eaLnBrk="1" hangingPunct="1">
              <a:lnSpc>
                <a:spcPct val="80000"/>
              </a:lnSpc>
              <a:buFont typeface="Wingdings" pitchFamily="2" charset="2"/>
              <a:buChar char="p"/>
            </a:pPr>
            <a:r>
              <a:rPr lang="en-US" sz="2200" dirty="0"/>
              <a:t> Normalized Floating Point Representation</a:t>
            </a:r>
          </a:p>
          <a:p>
            <a:pPr algn="l" eaLnBrk="1" hangingPunct="1">
              <a:lnSpc>
                <a:spcPct val="80000"/>
              </a:lnSpc>
              <a:buFont typeface="Wingdings" pitchFamily="2" charset="2"/>
              <a:buChar char="p"/>
            </a:pPr>
            <a:r>
              <a:rPr lang="en-US" sz="2200" dirty="0"/>
              <a:t> Significant Digits</a:t>
            </a:r>
          </a:p>
          <a:p>
            <a:pPr algn="l" eaLnBrk="1" hangingPunct="1">
              <a:lnSpc>
                <a:spcPct val="80000"/>
              </a:lnSpc>
              <a:buFont typeface="Wingdings" pitchFamily="2" charset="2"/>
              <a:buChar char="p"/>
            </a:pPr>
            <a:r>
              <a:rPr lang="en-US" sz="2200" dirty="0"/>
              <a:t> Accuracy and Precision </a:t>
            </a:r>
          </a:p>
          <a:p>
            <a:pPr algn="l" eaLnBrk="1" hangingPunct="1">
              <a:lnSpc>
                <a:spcPct val="80000"/>
              </a:lnSpc>
              <a:buFont typeface="Wingdings" pitchFamily="2" charset="2"/>
              <a:buChar char="p"/>
            </a:pPr>
            <a:r>
              <a:rPr lang="en-US" sz="2200" dirty="0"/>
              <a:t> Rounding and Chopping</a:t>
            </a:r>
          </a:p>
          <a:p>
            <a:pPr algn="l" eaLnBrk="1" hangingPunct="1">
              <a:lnSpc>
                <a:spcPct val="80000"/>
              </a:lnSpc>
            </a:pPr>
            <a:endParaRPr lang="en-US" sz="2200" dirty="0"/>
          </a:p>
          <a:p>
            <a:pPr algn="l" eaLnBrk="1" hangingPunct="1">
              <a:lnSpc>
                <a:spcPct val="80000"/>
              </a:lnSpc>
            </a:pPr>
            <a:endParaRPr lang="en-US" sz="2200" dirty="0"/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 </a:t>
            </a:r>
            <a:r>
              <a:rPr lang="en-US" sz="2000" b="1" dirty="0"/>
              <a:t>Reading Assignment:</a:t>
            </a:r>
            <a:r>
              <a:rPr lang="en-US" sz="2000" dirty="0"/>
              <a:t> Chapter 3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848600" cy="2127250"/>
          </a:xfrm>
          <a:noFill/>
        </p:spPr>
        <p:txBody>
          <a:bodyPr/>
          <a:lstStyle/>
          <a:p>
            <a:pPr eaLnBrk="1" hangingPunct="1"/>
            <a:r>
              <a:rPr lang="en-US" sz="3200" b="1" dirty="0"/>
              <a:t>Lecture 2</a:t>
            </a:r>
            <a:br>
              <a:rPr lang="en-US" sz="3200" b="1" dirty="0"/>
            </a:br>
            <a:r>
              <a:rPr lang="en-US" sz="3200" dirty="0"/>
              <a:t> </a:t>
            </a:r>
            <a:r>
              <a:rPr lang="en-US" sz="4000" dirty="0">
                <a:solidFill>
                  <a:srgbClr val="FF3300"/>
                </a:solidFill>
              </a:rPr>
              <a:t>Number Representation and Accuracy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922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002BF93-74AC-4E0C-BABC-3F97FBE48D18}" type="slidenum">
              <a:rPr lang="ar-SA" smtClean="0"/>
              <a:pPr/>
              <a:t>20</a:t>
            </a:fld>
            <a:endParaRPr lang="en-US"/>
          </a:p>
        </p:txBody>
      </p:sp>
      <p:sp>
        <p:nvSpPr>
          <p:cNvPr id="92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Representing Real Numbers</a:t>
            </a:r>
          </a:p>
        </p:txBody>
      </p:sp>
      <p:sp>
        <p:nvSpPr>
          <p:cNvPr id="92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sz="2400"/>
              <a:t>You are familiar with the decimal system: </a:t>
            </a:r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r>
              <a:rPr lang="en-US" sz="2400"/>
              <a:t>Decimal System:   Base = 10 , Digits (0,1,…,9)</a:t>
            </a:r>
          </a:p>
          <a:p>
            <a:pPr eaLnBrk="1" hangingPunct="1"/>
            <a:endParaRPr lang="en-US" sz="2400"/>
          </a:p>
          <a:p>
            <a:pPr eaLnBrk="1" hangingPunct="1"/>
            <a:r>
              <a:rPr lang="en-US" sz="2400"/>
              <a:t>Standard Representations:</a:t>
            </a:r>
          </a:p>
          <a:p>
            <a:pPr eaLnBrk="1" hangingPunct="1"/>
            <a:endParaRPr lang="en-US" sz="2400"/>
          </a:p>
        </p:txBody>
      </p:sp>
      <p:graphicFrame>
        <p:nvGraphicFramePr>
          <p:cNvPr id="921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85800" y="2160588"/>
          <a:ext cx="78486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2240" imgH="203040" progId="Equation.3">
                  <p:embed/>
                </p:oleObj>
              </mc:Choice>
              <mc:Fallback>
                <p:oleObj name="Equation" r:id="rId3" imgW="316224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60588"/>
                        <a:ext cx="78486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590800" y="4495800"/>
          <a:ext cx="4005263" cy="142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00200" imgH="660240" progId="Equation.3">
                  <p:embed/>
                </p:oleObj>
              </mc:Choice>
              <mc:Fallback>
                <p:oleObj name="Equation" r:id="rId5" imgW="1600200" imgH="660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495800"/>
                        <a:ext cx="4005263" cy="1420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024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EB3F50-19DB-4D83-B871-777077A0BBCD}" type="slidenum">
              <a:rPr lang="ar-SA" smtClean="0"/>
              <a:pPr/>
              <a:t>21</a:t>
            </a:fld>
            <a:endParaRPr lang="en-US"/>
          </a:p>
        </p:txBody>
      </p:sp>
      <p:sp>
        <p:nvSpPr>
          <p:cNvPr id="102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Normalized Floating Point Representation</a:t>
            </a:r>
          </a:p>
        </p:txBody>
      </p:sp>
      <p:sp>
        <p:nvSpPr>
          <p:cNvPr id="102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sz="2400"/>
              <a:t>Normalized Floating Point Representation:</a:t>
            </a:r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>
              <a:buFont typeface="Wingdings" pitchFamily="2" charset="2"/>
              <a:buNone/>
            </a:pPr>
            <a:r>
              <a:rPr lang="en-US" sz="2400"/>
              <a:t> </a:t>
            </a:r>
          </a:p>
          <a:p>
            <a:pPr eaLnBrk="1" hangingPunct="1"/>
            <a:endParaRPr lang="en-US" sz="2400"/>
          </a:p>
          <a:p>
            <a:pPr eaLnBrk="1" hangingPunct="1"/>
            <a:endParaRPr lang="en-US" sz="2100"/>
          </a:p>
          <a:p>
            <a:pPr eaLnBrk="1" hangingPunct="1"/>
            <a:r>
              <a:rPr lang="en-US" sz="2100"/>
              <a:t>No integral part,</a:t>
            </a:r>
          </a:p>
          <a:p>
            <a:pPr eaLnBrk="1" hangingPunct="1"/>
            <a:r>
              <a:rPr lang="en-US" sz="2100"/>
              <a:t>Advantage:</a:t>
            </a:r>
            <a:r>
              <a:rPr lang="en-US" sz="2400"/>
              <a:t> </a:t>
            </a:r>
            <a:r>
              <a:rPr lang="en-US" sz="2000"/>
              <a:t>Efficient in representing very small or very large numbers.</a:t>
            </a:r>
          </a:p>
          <a:p>
            <a:pPr eaLnBrk="1" hangingPunct="1"/>
            <a:endParaRPr lang="en-US" sz="2000"/>
          </a:p>
        </p:txBody>
      </p:sp>
      <p:graphicFrame>
        <p:nvGraphicFramePr>
          <p:cNvPr id="10242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14400" y="2133600"/>
          <a:ext cx="50292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080" imgH="965160" progId="Equation.3">
                  <p:embed/>
                </p:oleObj>
              </mc:Choice>
              <mc:Fallback>
                <p:oleObj name="Equation" r:id="rId3" imgW="2197080" imgH="965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133600"/>
                        <a:ext cx="5029200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Line 5"/>
          <p:cNvSpPr>
            <a:spLocks noChangeShapeType="1"/>
          </p:cNvSpPr>
          <p:nvPr/>
        </p:nvSpPr>
        <p:spPr bwMode="auto">
          <a:xfrm flipH="1" flipV="1">
            <a:off x="4876800" y="2438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81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AC8F27-4465-4423-9707-DE583965CC45}" type="slidenum">
              <a:rPr lang="ar-SA" smtClean="0"/>
              <a:pPr/>
              <a:t>22</a:t>
            </a:fld>
            <a:endParaRPr lang="en-US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Calculator Example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828800"/>
          </a:xfrm>
        </p:spPr>
        <p:txBody>
          <a:bodyPr/>
          <a:lstStyle/>
          <a:p>
            <a:pPr eaLnBrk="1" hangingPunct="1"/>
            <a:r>
              <a:rPr lang="en-US"/>
              <a:t>Suppose you want to compute: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      3.578 * 2.139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/>
              <a:t>     using a calculator with two-digit fractions</a:t>
            </a:r>
          </a:p>
        </p:txBody>
      </p:sp>
      <p:sp>
        <p:nvSpPr>
          <p:cNvPr id="48135" name="Rectangle 4"/>
          <p:cNvSpPr>
            <a:spLocks noChangeArrowheads="1"/>
          </p:cNvSpPr>
          <p:nvPr/>
        </p:nvSpPr>
        <p:spPr bwMode="auto">
          <a:xfrm>
            <a:off x="1066800" y="3581400"/>
            <a:ext cx="1219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/>
              <a:t>3.57</a:t>
            </a:r>
          </a:p>
        </p:txBody>
      </p:sp>
      <p:sp>
        <p:nvSpPr>
          <p:cNvPr id="48136" name="Oval 5"/>
          <p:cNvSpPr>
            <a:spLocks noChangeArrowheads="1"/>
          </p:cNvSpPr>
          <p:nvPr/>
        </p:nvSpPr>
        <p:spPr bwMode="auto">
          <a:xfrm>
            <a:off x="2362200" y="3581400"/>
            <a:ext cx="6858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/>
              <a:t>*</a:t>
            </a:r>
          </a:p>
        </p:txBody>
      </p:sp>
      <p:sp>
        <p:nvSpPr>
          <p:cNvPr id="48137" name="Rectangle 6"/>
          <p:cNvSpPr>
            <a:spLocks noChangeArrowheads="1"/>
          </p:cNvSpPr>
          <p:nvPr/>
        </p:nvSpPr>
        <p:spPr bwMode="auto">
          <a:xfrm>
            <a:off x="3276600" y="3581400"/>
            <a:ext cx="1219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/>
              <a:t>2.13</a:t>
            </a:r>
          </a:p>
        </p:txBody>
      </p:sp>
      <p:sp>
        <p:nvSpPr>
          <p:cNvPr id="48138" name="Rectangle 7"/>
          <p:cNvSpPr>
            <a:spLocks noChangeArrowheads="1"/>
          </p:cNvSpPr>
          <p:nvPr/>
        </p:nvSpPr>
        <p:spPr bwMode="auto">
          <a:xfrm>
            <a:off x="5181600" y="3581400"/>
            <a:ext cx="1219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/>
              <a:t>7.60</a:t>
            </a:r>
          </a:p>
        </p:txBody>
      </p:sp>
      <p:sp>
        <p:nvSpPr>
          <p:cNvPr id="48139" name="Oval 8"/>
          <p:cNvSpPr>
            <a:spLocks noChangeArrowheads="1"/>
          </p:cNvSpPr>
          <p:nvPr/>
        </p:nvSpPr>
        <p:spPr bwMode="auto">
          <a:xfrm>
            <a:off x="4419600" y="3581400"/>
            <a:ext cx="685800" cy="533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/>
              <a:t>=</a:t>
            </a:r>
          </a:p>
        </p:txBody>
      </p:sp>
      <p:sp>
        <p:nvSpPr>
          <p:cNvPr id="48140" name="Rectangle 9"/>
          <p:cNvSpPr>
            <a:spLocks noChangeArrowheads="1"/>
          </p:cNvSpPr>
          <p:nvPr/>
        </p:nvSpPr>
        <p:spPr bwMode="auto">
          <a:xfrm>
            <a:off x="5181600" y="4876800"/>
            <a:ext cx="2514600" cy="6096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/>
              <a:t>7.653342</a:t>
            </a:r>
          </a:p>
        </p:txBody>
      </p:sp>
      <p:sp>
        <p:nvSpPr>
          <p:cNvPr id="48141" name="Text Box 10"/>
          <p:cNvSpPr txBox="1">
            <a:spLocks noChangeArrowheads="1"/>
          </p:cNvSpPr>
          <p:nvPr/>
        </p:nvSpPr>
        <p:spPr bwMode="auto">
          <a:xfrm>
            <a:off x="1143000" y="4967288"/>
            <a:ext cx="3886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solidFill>
                  <a:srgbClr val="FF0000"/>
                </a:solidFill>
              </a:rPr>
              <a:t>True answer: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127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3F0E121-C378-42C6-9BDD-4522AC451AE1}" type="slidenum">
              <a:rPr lang="ar-SA" smtClean="0"/>
              <a:pPr/>
              <a:t>23</a:t>
            </a:fld>
            <a:endParaRPr lang="en-US"/>
          </a:p>
        </p:txBody>
      </p:sp>
      <p:sp>
        <p:nvSpPr>
          <p:cNvPr id="112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Binary System</a:t>
            </a:r>
          </a:p>
        </p:txBody>
      </p:sp>
      <p:sp>
        <p:nvSpPr>
          <p:cNvPr id="1127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905000"/>
            <a:ext cx="8077200" cy="40386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sz="2400"/>
              <a:t>Binary System:     Base = 2, Digits {0,1}</a:t>
            </a:r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graphicFrame>
        <p:nvGraphicFramePr>
          <p:cNvPr id="11266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066800" y="2422525"/>
          <a:ext cx="4005263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080" imgH="507960" progId="Equation.3">
                  <p:embed/>
                </p:oleObj>
              </mc:Choice>
              <mc:Fallback>
                <p:oleObj name="Equation" r:id="rId3" imgW="2197080" imgH="507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422525"/>
                        <a:ext cx="4005263" cy="930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Line 5"/>
          <p:cNvSpPr>
            <a:spLocks noChangeShapeType="1"/>
          </p:cNvSpPr>
          <p:nvPr/>
        </p:nvSpPr>
        <p:spPr bwMode="auto">
          <a:xfrm flipH="1" flipV="1">
            <a:off x="3962400" y="25146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267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43000" y="3600450"/>
          <a:ext cx="27717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5920" imgH="215640" progId="Equation.3">
                  <p:embed/>
                </p:oleObj>
              </mc:Choice>
              <mc:Fallback>
                <p:oleObj name="Equation" r:id="rId5" imgW="101592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600450"/>
                        <a:ext cx="2771775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7"/>
          <p:cNvGraphicFramePr>
            <a:graphicFrameLocks noChangeAspect="1"/>
          </p:cNvGraphicFramePr>
          <p:nvPr/>
        </p:nvGraphicFramePr>
        <p:xfrm>
          <a:off x="609600" y="4648200"/>
          <a:ext cx="78486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58840" imgH="241200" progId="Equation.3">
                  <p:embed/>
                </p:oleObj>
              </mc:Choice>
              <mc:Fallback>
                <p:oleObj name="Equation" r:id="rId7" imgW="295884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648200"/>
                        <a:ext cx="78486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4915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5892C2-6C16-4EBD-AA35-954D53D1A8E6}" type="slidenum">
              <a:rPr lang="ar-SA" smtClean="0"/>
              <a:pPr/>
              <a:t>24</a:t>
            </a:fld>
            <a:endParaRPr lang="en-US"/>
          </a:p>
        </p:txBody>
      </p:sp>
      <p:pic>
        <p:nvPicPr>
          <p:cNvPr id="49157" name="Picture 2" descr="Fig030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600200"/>
            <a:ext cx="7696200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23912"/>
          </a:xfrm>
          <a:noFill/>
        </p:spPr>
        <p:txBody>
          <a:bodyPr anchor="ctr"/>
          <a:lstStyle/>
          <a:p>
            <a:pPr eaLnBrk="1" hangingPunct="1"/>
            <a:r>
              <a:rPr lang="en-US" sz="4000"/>
              <a:t>7-Bit Representation</a:t>
            </a:r>
            <a:br>
              <a:rPr lang="en-US"/>
            </a:br>
            <a:r>
              <a:rPr lang="en-US" sz="2400"/>
              <a:t>(sign: 1 bit, mantissa: 3bits, exponent: 3 bits)</a:t>
            </a:r>
          </a:p>
        </p:txBody>
      </p:sp>
      <p:sp>
        <p:nvSpPr>
          <p:cNvPr id="49159" name="Rectangle 4"/>
          <p:cNvSpPr>
            <a:spLocks noChangeArrowheads="1"/>
          </p:cNvSpPr>
          <p:nvPr/>
        </p:nvSpPr>
        <p:spPr bwMode="auto">
          <a:xfrm>
            <a:off x="5486400" y="2362200"/>
            <a:ext cx="2438400" cy="914400"/>
          </a:xfrm>
          <a:prstGeom prst="rect">
            <a:avLst/>
          </a:prstGeom>
          <a:solidFill>
            <a:schemeClr val="accent1">
              <a:alpha val="45097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0" name="Rectangle 5"/>
          <p:cNvSpPr>
            <a:spLocks noChangeArrowheads="1"/>
          </p:cNvSpPr>
          <p:nvPr/>
        </p:nvSpPr>
        <p:spPr bwMode="auto">
          <a:xfrm>
            <a:off x="2971800" y="2362200"/>
            <a:ext cx="2514600" cy="914400"/>
          </a:xfrm>
          <a:prstGeom prst="rect">
            <a:avLst/>
          </a:prstGeom>
          <a:solidFill>
            <a:srgbClr val="FF0000">
              <a:alpha val="43137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229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D8B78C5-DE8B-419C-A00D-F3ADBAE57180}" type="slidenum">
              <a:rPr lang="ar-SA" smtClean="0"/>
              <a:pPr/>
              <a:t>25</a:t>
            </a:fld>
            <a:endParaRPr lang="en-US"/>
          </a:p>
        </p:txBody>
      </p:sp>
      <p:sp>
        <p:nvSpPr>
          <p:cNvPr id="122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Fact</a:t>
            </a:r>
          </a:p>
        </p:txBody>
      </p:sp>
      <p:sp>
        <p:nvSpPr>
          <p:cNvPr id="122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4530725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sz="2100"/>
              <a:t>Numbers that have a finite expansion in one numbering system may have an infinite expansion in another numbering system:</a:t>
            </a:r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endParaRPr lang="en-US" sz="2400"/>
          </a:p>
          <a:p>
            <a:pPr eaLnBrk="1" hangingPunct="1"/>
            <a:r>
              <a:rPr lang="en-US" sz="2100"/>
              <a:t>You can never represent 0.1 exactly in any computer.</a:t>
            </a:r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990600" y="3200400"/>
          <a:ext cx="6705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08160" imgH="228600" progId="Equation.3">
                  <p:embed/>
                </p:oleObj>
              </mc:Choice>
              <mc:Fallback>
                <p:oleObj name="Equation" r:id="rId3" imgW="21081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200400"/>
                        <a:ext cx="67056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018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DE0935-611A-4147-B795-1B017E63B4B0}" type="slidenum">
              <a:rPr lang="ar-SA" smtClean="0"/>
              <a:pPr/>
              <a:t>26</a:t>
            </a:fld>
            <a:endParaRPr lang="en-US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Representation</a:t>
            </a:r>
          </a:p>
        </p:txBody>
      </p:sp>
      <p:sp>
        <p:nvSpPr>
          <p:cNvPr id="50182" name="Text Box 3"/>
          <p:cNvSpPr txBox="1">
            <a:spLocks noChangeArrowheads="1"/>
          </p:cNvSpPr>
          <p:nvPr/>
        </p:nvSpPr>
        <p:spPr bwMode="auto">
          <a:xfrm>
            <a:off x="838200" y="1905000"/>
            <a:ext cx="7620000" cy="372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latin typeface="Arial" charset="0"/>
              </a:rPr>
              <a:t>Hypothetical Machine </a:t>
            </a:r>
            <a:r>
              <a:rPr lang="en-US" dirty="0">
                <a:latin typeface="Arial" charset="0"/>
              </a:rPr>
              <a:t>(real computers use ≥ 23 bit mantissa) </a:t>
            </a:r>
          </a:p>
          <a:p>
            <a:pPr>
              <a:spcBef>
                <a:spcPct val="50000"/>
              </a:spcBef>
            </a:pPr>
            <a:r>
              <a:rPr lang="en-US" sz="2800" dirty="0">
                <a:latin typeface="Arial" charset="0"/>
              </a:rPr>
              <a:t>Mantissa: 3 bits    Exponent: 2 bits    Sign: 1 bit</a:t>
            </a:r>
          </a:p>
          <a:p>
            <a:pPr>
              <a:spcBef>
                <a:spcPct val="50000"/>
              </a:spcBef>
            </a:pPr>
            <a:endParaRPr lang="en-US" sz="2800" dirty="0">
              <a:latin typeface="Arial" charset="0"/>
            </a:endParaRPr>
          </a:p>
          <a:p>
            <a:pPr>
              <a:spcBef>
                <a:spcPct val="50000"/>
              </a:spcBef>
            </a:pPr>
            <a:r>
              <a:rPr lang="en-US" sz="2800" dirty="0">
                <a:latin typeface="Arial" charset="0"/>
              </a:rPr>
              <a:t>Possible positive machine numbers:</a:t>
            </a:r>
          </a:p>
          <a:p>
            <a:pPr>
              <a:spcBef>
                <a:spcPct val="50000"/>
              </a:spcBef>
            </a:pPr>
            <a:r>
              <a:rPr lang="en-US" sz="2800" dirty="0">
                <a:latin typeface="Arial" charset="0"/>
              </a:rPr>
              <a:t>.25   .3125   .375   .4375   .5   .625   .75   .875</a:t>
            </a:r>
          </a:p>
          <a:p>
            <a:pPr>
              <a:spcBef>
                <a:spcPct val="50000"/>
              </a:spcBef>
            </a:pPr>
            <a:r>
              <a:rPr lang="en-US" sz="2800" dirty="0">
                <a:latin typeface="Arial" charset="0"/>
              </a:rPr>
              <a:t>1       1.25   1.5       1.75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120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C6DFF6-09F7-4D4D-9E85-71E2BF3B0793}" type="slidenum">
              <a:rPr lang="ar-SA" smtClean="0"/>
              <a:pPr/>
              <a:t>27</a:t>
            </a:fld>
            <a:endParaRPr lang="en-US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Representation</a:t>
            </a:r>
          </a:p>
        </p:txBody>
      </p:sp>
      <p:pic>
        <p:nvPicPr>
          <p:cNvPr id="51206" name="Picture 3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-533400" y="0"/>
            <a:ext cx="10058400" cy="6858000"/>
          </a:xfrm>
          <a:noFill/>
        </p:spPr>
      </p:pic>
      <p:sp>
        <p:nvSpPr>
          <p:cNvPr id="51207" name="Text Box 4"/>
          <p:cNvSpPr txBox="1">
            <a:spLocks noChangeArrowheads="1"/>
          </p:cNvSpPr>
          <p:nvPr/>
        </p:nvSpPr>
        <p:spPr bwMode="auto">
          <a:xfrm>
            <a:off x="1295400" y="1219200"/>
            <a:ext cx="365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Arial" charset="0"/>
              </a:rPr>
              <a:t>Gap near zero</a:t>
            </a:r>
          </a:p>
        </p:txBody>
      </p:sp>
      <p:sp>
        <p:nvSpPr>
          <p:cNvPr id="51208" name="Line 5"/>
          <p:cNvSpPr>
            <a:spLocks noChangeShapeType="1"/>
          </p:cNvSpPr>
          <p:nvPr/>
        </p:nvSpPr>
        <p:spPr bwMode="auto">
          <a:xfrm flipH="1">
            <a:off x="1295400" y="1600200"/>
            <a:ext cx="7620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6DB594-CD88-4D2C-B10A-611891F79D8A}" type="slidenum">
              <a:rPr lang="ar-SA" smtClean="0"/>
              <a:pPr/>
              <a:t>28</a:t>
            </a:fld>
            <a:endParaRPr lang="en-US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Remarks</a:t>
            </a:r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/>
          </a:p>
          <a:p>
            <a:pPr marL="609600" indent="-609600" eaLnBrk="1" hangingPunct="1"/>
            <a:r>
              <a:rPr lang="en-US" sz="2000"/>
              <a:t>Numbers that can be exactly represented are called machine numbers.</a:t>
            </a:r>
          </a:p>
          <a:p>
            <a:pPr marL="609600" indent="-609600" eaLnBrk="1" hangingPunct="1"/>
            <a:endParaRPr lang="en-US" sz="2000"/>
          </a:p>
          <a:p>
            <a:pPr marL="609600" indent="-609600" eaLnBrk="1" hangingPunct="1"/>
            <a:r>
              <a:rPr lang="en-US" sz="2000"/>
              <a:t>Difference between machine numbers is not uniform</a:t>
            </a:r>
          </a:p>
          <a:p>
            <a:pPr marL="609600" indent="-609600" eaLnBrk="1" hangingPunct="1"/>
            <a:endParaRPr lang="en-US" sz="2000"/>
          </a:p>
          <a:p>
            <a:pPr marL="609600" indent="-609600" eaLnBrk="1" hangingPunct="1"/>
            <a:r>
              <a:rPr lang="en-US" sz="2000"/>
              <a:t>Sum of machine numbers is not necessarily a machine number: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sz="2000"/>
              <a:t>          0.25 + .3125 = 0.5625  (not a machine number) 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32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079029-30E3-4882-A47A-B3E68E5041B3}" type="slidenum">
              <a:rPr lang="ar-SA" smtClean="0"/>
              <a:pPr/>
              <a:t>29</a:t>
            </a:fld>
            <a:endParaRPr lang="en-US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Significant Digits</a:t>
            </a:r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/>
          </a:p>
          <a:p>
            <a:pPr marL="609600" indent="-609600" eaLnBrk="1" hangingPunct="1"/>
            <a:endParaRPr lang="en-US" sz="2000"/>
          </a:p>
        </p:txBody>
      </p:sp>
      <p:sp>
        <p:nvSpPr>
          <p:cNvPr id="53255" name="Rectangle 4"/>
          <p:cNvSpPr>
            <a:spLocks noChangeArrowheads="1"/>
          </p:cNvSpPr>
          <p:nvPr/>
        </p:nvSpPr>
        <p:spPr bwMode="auto">
          <a:xfrm>
            <a:off x="609600" y="21336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/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/>
              <a:t>Significant digits are those digits that can be used with confidence.</a:t>
            </a:r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endParaRPr 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427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6C83186-370C-4F7C-996A-635B4C7C9CD5}" type="slidenum">
              <a:rPr lang="ar-SA" smtClean="0"/>
              <a:pPr/>
              <a:t>30</a:t>
            </a:fld>
            <a:endParaRPr lang="en-US"/>
          </a:p>
        </p:txBody>
      </p:sp>
      <p:pic>
        <p:nvPicPr>
          <p:cNvPr id="54277" name="Picture 2" descr="Fig03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539875"/>
            <a:ext cx="6324600" cy="425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8" name="Rectangle 3"/>
          <p:cNvSpPr>
            <a:spLocks noGrp="1" noChangeArrowheads="1"/>
          </p:cNvSpPr>
          <p:nvPr>
            <p:ph type="title"/>
          </p:nvPr>
        </p:nvSpPr>
        <p:spPr>
          <a:xfrm>
            <a:off x="4114800" y="1222375"/>
            <a:ext cx="4572000" cy="1139825"/>
          </a:xfrm>
        </p:spPr>
        <p:txBody>
          <a:bodyPr/>
          <a:lstStyle/>
          <a:p>
            <a:pPr eaLnBrk="1" hangingPunct="1"/>
            <a:r>
              <a:rPr lang="en-US">
                <a:solidFill>
                  <a:srgbClr val="FF3300"/>
                </a:solidFill>
              </a:rPr>
              <a:t>48</a:t>
            </a:r>
            <a:r>
              <a:rPr lang="en-US"/>
              <a:t>.</a:t>
            </a:r>
            <a:r>
              <a:rPr lang="en-US">
                <a:solidFill>
                  <a:srgbClr val="0000FF"/>
                </a:solidFill>
              </a:rPr>
              <a:t>9</a:t>
            </a:r>
          </a:p>
        </p:txBody>
      </p:sp>
      <p:sp>
        <p:nvSpPr>
          <p:cNvPr id="54279" name="Rectangle 4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4400">
                <a:solidFill>
                  <a:schemeClr val="tx2"/>
                </a:solidFill>
                <a:latin typeface="Garamond" pitchFamily="18" charset="0"/>
              </a:rPr>
              <a:t>Significant Digits - Example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53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D45D76-D4C8-4A78-85C4-2375F91E3F96}" type="slidenum">
              <a:rPr lang="ar-SA" smtClean="0"/>
              <a:pPr/>
              <a:t>31</a:t>
            </a:fld>
            <a:endParaRPr lang="en-US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Accuracy and Precision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/>
          </a:p>
          <a:p>
            <a:pPr marL="609600" indent="-609600" eaLnBrk="1" hangingPunct="1"/>
            <a:endParaRPr lang="en-US" sz="2000"/>
          </a:p>
        </p:txBody>
      </p:sp>
      <p:sp>
        <p:nvSpPr>
          <p:cNvPr id="55303" name="Rectangle 4"/>
          <p:cNvSpPr>
            <a:spLocks noChangeArrowheads="1"/>
          </p:cNvSpPr>
          <p:nvPr/>
        </p:nvSpPr>
        <p:spPr bwMode="auto">
          <a:xfrm>
            <a:off x="381000" y="18288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 dirty="0"/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/>
              <a:t>Accuracy is related to the closeness to the true value.</a:t>
            </a:r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/>
              <a:t>                              </a:t>
            </a:r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/>
              <a:t>Precision is related to the closeness to other estimated values.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/>
              <a:t>The degree of precision in a measurement is shown by using significant digits.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632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C117287-22C2-4D33-AD06-6527DD6022D7}" type="slidenum">
              <a:rPr lang="ar-SA" smtClean="0"/>
              <a:pPr/>
              <a:t>32</a:t>
            </a:fld>
            <a:endParaRPr lang="en-US"/>
          </a:p>
        </p:txBody>
      </p:sp>
      <p:pic>
        <p:nvPicPr>
          <p:cNvPr id="56325" name="Picture 2" descr="Fig03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609600"/>
            <a:ext cx="5486400" cy="547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53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D45D76-D4C8-4A78-85C4-2375F91E3F96}" type="slidenum">
              <a:rPr lang="ar-SA" smtClean="0"/>
              <a:pPr/>
              <a:t>33</a:t>
            </a:fld>
            <a:endParaRPr lang="en-US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How Many Significant Digits?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/>
          </a:p>
          <a:p>
            <a:pPr marL="609600" indent="-609600" eaLnBrk="1" hangingPunct="1"/>
            <a:endParaRPr lang="en-US" sz="2000"/>
          </a:p>
        </p:txBody>
      </p:sp>
      <p:sp>
        <p:nvSpPr>
          <p:cNvPr id="55303" name="Rectangle 4"/>
          <p:cNvSpPr>
            <a:spLocks noChangeArrowheads="1"/>
          </p:cNvSpPr>
          <p:nvPr/>
        </p:nvSpPr>
        <p:spPr bwMode="auto">
          <a:xfrm>
            <a:off x="381000" y="1524000"/>
            <a:ext cx="8610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/>
              <a:t>By convention, a measurement is recorded by writing all exactly known numbers and 1 number which is uncertain, together with a unit label.</a:t>
            </a:r>
          </a:p>
          <a:p>
            <a:pPr marL="6096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</a:p>
          <a:p>
            <a:pPr marL="6096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endParaRPr lang="en-US" sz="2400" dirty="0">
              <a:solidFill>
                <a:srgbClr val="3333FF"/>
              </a:solidFill>
            </a:endParaRPr>
          </a:p>
          <a:p>
            <a:pPr marL="6096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endParaRPr lang="en-US" sz="2400" dirty="0">
              <a:solidFill>
                <a:srgbClr val="3333FF"/>
              </a:solidFill>
            </a:endParaRPr>
          </a:p>
          <a:p>
            <a:pPr marL="0" lvl="1">
              <a:spcBef>
                <a:spcPct val="20000"/>
              </a:spcBef>
              <a:buClr>
                <a:schemeClr val="bg2"/>
              </a:buClr>
              <a:buSzPct val="75000"/>
            </a:pPr>
            <a:endParaRPr lang="en-US" sz="2400" dirty="0">
              <a:solidFill>
                <a:srgbClr val="3333FF"/>
              </a:solidFill>
            </a:endParaRPr>
          </a:p>
          <a:p>
            <a:pPr marL="6096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/>
              <a:t>Blue line is 2.73 cm long. This measurement has 3 significant digits.</a:t>
            </a:r>
          </a:p>
          <a:p>
            <a:pPr marL="1066800" lvl="2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000" dirty="0"/>
              <a:t>First 2 digits (2.7 cm) are exactly known</a:t>
            </a:r>
          </a:p>
          <a:p>
            <a:pPr marL="1066800" lvl="2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000" dirty="0"/>
              <a:t>Third digit (0.03 cm) is uncertain because it was estimated 1 digit beyond the smallest graduation.</a:t>
            </a:r>
          </a:p>
        </p:txBody>
      </p:sp>
      <p:pic>
        <p:nvPicPr>
          <p:cNvPr id="7" name="Picture 4" descr="ruler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367" y="2743200"/>
            <a:ext cx="3411267" cy="1737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1634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53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D45D76-D4C8-4A78-85C4-2375F91E3F96}" type="slidenum">
              <a:rPr lang="ar-SA" smtClean="0"/>
              <a:pPr/>
              <a:t>34</a:t>
            </a:fld>
            <a:endParaRPr lang="en-US"/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/>
          </a:p>
          <a:p>
            <a:pPr marL="609600" indent="-609600" eaLnBrk="1" hangingPunct="1"/>
            <a:endParaRPr lang="en-US" sz="2000"/>
          </a:p>
        </p:txBody>
      </p:sp>
      <p:sp>
        <p:nvSpPr>
          <p:cNvPr id="55303" name="Rectangle 4"/>
          <p:cNvSpPr>
            <a:spLocks noChangeArrowheads="1"/>
          </p:cNvSpPr>
          <p:nvPr/>
        </p:nvSpPr>
        <p:spPr bwMode="auto">
          <a:xfrm>
            <a:off x="381000" y="1828800"/>
            <a:ext cx="8610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u="sng" dirty="0"/>
              <a:t>Rule:</a:t>
            </a:r>
            <a:r>
              <a:rPr lang="en-US" sz="2400" dirty="0"/>
              <a:t> all non-zero digits are significant</a:t>
            </a:r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u="sng" dirty="0"/>
              <a:t>Rule:</a:t>
            </a:r>
            <a:r>
              <a:rPr lang="en-US" sz="2400" dirty="0"/>
              <a:t> zeros between non-zero digits are significant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  <a:r>
              <a:rPr lang="en-US" sz="2400" dirty="0"/>
              <a:t> 205 m </a:t>
            </a:r>
            <a:r>
              <a:rPr lang="en-US" sz="2400" dirty="0">
                <a:sym typeface="Symbol" panose="05050102010706020507" pitchFamily="18" charset="2"/>
              </a:rPr>
              <a:t> 3 SD</a:t>
            </a:r>
            <a:endParaRPr lang="en-US" sz="2400" dirty="0"/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/>
              <a:t>                              </a:t>
            </a:r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u="sng" dirty="0"/>
              <a:t>Rule:</a:t>
            </a:r>
            <a:r>
              <a:rPr lang="en-US" sz="2400" dirty="0"/>
              <a:t> zeros to the left of the first non-zero digit are NOT significant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  <a:r>
              <a:rPr lang="en-US" sz="2400" dirty="0"/>
              <a:t> 0.00345 s </a:t>
            </a:r>
            <a:r>
              <a:rPr lang="en-US" sz="2400" dirty="0">
                <a:sym typeface="Symbol" panose="05050102010706020507" pitchFamily="18" charset="2"/>
              </a:rPr>
              <a:t> 3 SD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  <a:r>
              <a:rPr lang="en-US" sz="2400" dirty="0"/>
              <a:t> 2.00345 s </a:t>
            </a:r>
            <a:r>
              <a:rPr lang="en-US" sz="2400" dirty="0">
                <a:sym typeface="Symbol" panose="05050102010706020507" pitchFamily="18" charset="2"/>
              </a:rPr>
              <a:t> 6 SD</a:t>
            </a:r>
            <a:endParaRPr lang="en-US" sz="2400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eaLnBrk="1" hangingPunct="1"/>
            <a:r>
              <a:rPr lang="en-US" dirty="0"/>
              <a:t>How Many Significant Digits? (Contd.)</a:t>
            </a:r>
          </a:p>
        </p:txBody>
      </p:sp>
    </p:spTree>
    <p:extLst>
      <p:ext uri="{BB962C8B-B14F-4D97-AF65-F5344CB8AC3E}">
        <p14:creationId xmlns:p14="http://schemas.microsoft.com/office/powerpoint/2010/main" val="887304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53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D45D76-D4C8-4A78-85C4-2375F91E3F96}" type="slidenum">
              <a:rPr lang="ar-SA" smtClean="0"/>
              <a:pPr/>
              <a:t>35</a:t>
            </a:fld>
            <a:endParaRPr lang="en-US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eaLnBrk="1" hangingPunct="1"/>
            <a:r>
              <a:rPr lang="en-US" dirty="0"/>
              <a:t>How Many Significant Digits? (Contd.)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/>
          </a:p>
          <a:p>
            <a:pPr marL="609600" indent="-609600" eaLnBrk="1" hangingPunct="1"/>
            <a:endParaRPr lang="en-US" sz="2000"/>
          </a:p>
        </p:txBody>
      </p:sp>
      <p:sp>
        <p:nvSpPr>
          <p:cNvPr id="55303" name="Rectangle 4"/>
          <p:cNvSpPr>
            <a:spLocks noChangeArrowheads="1"/>
          </p:cNvSpPr>
          <p:nvPr/>
        </p:nvSpPr>
        <p:spPr bwMode="auto">
          <a:xfrm>
            <a:off x="381000" y="1828800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u="sng" dirty="0"/>
              <a:t>Rule:</a:t>
            </a:r>
            <a:r>
              <a:rPr lang="en-US" sz="2400" dirty="0"/>
              <a:t> if a number has a decimal point, then trailing zeros are significant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  <a:r>
              <a:rPr lang="en-US" sz="2400" dirty="0"/>
              <a:t> 0.275000 m </a:t>
            </a:r>
            <a:r>
              <a:rPr lang="en-US" sz="2400" dirty="0">
                <a:sym typeface="Symbol" panose="05050102010706020507" pitchFamily="18" charset="2"/>
              </a:rPr>
              <a:t> 6 SD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  <a:r>
              <a:rPr lang="en-US" sz="2400" dirty="0"/>
              <a:t> 267.000 m </a:t>
            </a:r>
            <a:r>
              <a:rPr lang="en-US" sz="2400" dirty="0">
                <a:sym typeface="Symbol" panose="05050102010706020507" pitchFamily="18" charset="2"/>
              </a:rPr>
              <a:t> 6 SD</a:t>
            </a:r>
            <a:endParaRPr lang="en-US" sz="2400" dirty="0"/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/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u="sng" dirty="0"/>
              <a:t>Rule:</a:t>
            </a:r>
            <a:r>
              <a:rPr lang="en-US" sz="2400" dirty="0"/>
              <a:t> if a number has NO decimal point, then trailing zeros are NOT significant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  <a:r>
              <a:rPr lang="en-US" sz="2400" dirty="0"/>
              <a:t> 275 000 m </a:t>
            </a:r>
            <a:r>
              <a:rPr lang="en-US" sz="2400" dirty="0">
                <a:sym typeface="Symbol" panose="05050102010706020507" pitchFamily="18" charset="2"/>
              </a:rPr>
              <a:t> 3 SD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  <a:r>
              <a:rPr lang="en-US" sz="2400" dirty="0"/>
              <a:t> 275 000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/>
              <a:t> m </a:t>
            </a:r>
            <a:r>
              <a:rPr lang="en-US" sz="2400" dirty="0">
                <a:sym typeface="Symbol" panose="05050102010706020507" pitchFamily="18" charset="2"/>
              </a:rPr>
              <a:t> 6 SD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25600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53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D45D76-D4C8-4A78-85C4-2375F91E3F96}" type="slidenum">
              <a:rPr lang="ar-SA" smtClean="0"/>
              <a:pPr/>
              <a:t>36</a:t>
            </a:fld>
            <a:endParaRPr lang="en-US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eaLnBrk="1" hangingPunct="1"/>
            <a:r>
              <a:rPr lang="en-US" dirty="0"/>
              <a:t>How Many Significant Digits? (Contd.)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/>
          </a:p>
          <a:p>
            <a:pPr marL="609600" indent="-609600" eaLnBrk="1" hangingPunct="1"/>
            <a:endParaRPr lang="en-US" sz="2000"/>
          </a:p>
        </p:txBody>
      </p:sp>
      <p:sp>
        <p:nvSpPr>
          <p:cNvPr id="55303" name="Rectangle 4"/>
          <p:cNvSpPr>
            <a:spLocks noChangeArrowheads="1"/>
          </p:cNvSpPr>
          <p:nvPr/>
        </p:nvSpPr>
        <p:spPr bwMode="auto">
          <a:xfrm>
            <a:off x="381000" y="1828800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u="sng" dirty="0"/>
              <a:t>Rule:</a:t>
            </a:r>
            <a:r>
              <a:rPr lang="en-US" sz="2400" dirty="0"/>
              <a:t> for </a:t>
            </a:r>
            <a:r>
              <a:rPr lang="en-US" sz="2400" dirty="0">
                <a:solidFill>
                  <a:srgbClr val="FF0000"/>
                </a:solidFill>
              </a:rPr>
              <a:t>addition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subtraction</a:t>
            </a:r>
            <a:r>
              <a:rPr lang="en-US" sz="2400" dirty="0"/>
              <a:t>, the answer has the same precision as the measurement with the </a:t>
            </a:r>
            <a:r>
              <a:rPr lang="en-US" sz="2400" b="1" dirty="0"/>
              <a:t>LEAST</a:t>
            </a:r>
            <a:r>
              <a:rPr lang="en-US" sz="2400" dirty="0"/>
              <a:t> </a:t>
            </a:r>
            <a:r>
              <a:rPr lang="en-US" sz="2400" u="sng" dirty="0">
                <a:solidFill>
                  <a:srgbClr val="FF0000"/>
                </a:solidFill>
              </a:rPr>
              <a:t>precision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  <a:r>
              <a:rPr lang="en-US" sz="2400" dirty="0"/>
              <a:t> 375.4 m + 2.54 m = ? </a:t>
            </a:r>
            <a:r>
              <a:rPr lang="en-US" sz="2400" dirty="0">
                <a:sym typeface="Symbol" panose="05050102010706020507" pitchFamily="18" charset="2"/>
              </a:rPr>
              <a:t> 377.9 m</a:t>
            </a:r>
            <a:endParaRPr lang="en-US" sz="2400" dirty="0"/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/>
              <a:t>                              </a:t>
            </a:r>
          </a:p>
          <a:p>
            <a:pPr marL="609600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u="sng" dirty="0"/>
              <a:t>Rule:</a:t>
            </a:r>
            <a:r>
              <a:rPr lang="en-US" sz="2400" dirty="0"/>
              <a:t> for </a:t>
            </a:r>
            <a:r>
              <a:rPr lang="en-US" sz="2400" dirty="0">
                <a:solidFill>
                  <a:srgbClr val="FF0000"/>
                </a:solidFill>
              </a:rPr>
              <a:t>multiplication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division</a:t>
            </a:r>
            <a:r>
              <a:rPr lang="en-US" sz="2400" dirty="0"/>
              <a:t>, the answer has the same number of significant figures as the measurement with the </a:t>
            </a:r>
            <a:r>
              <a:rPr lang="en-US" sz="2400" b="1" dirty="0"/>
              <a:t>FEWEST</a:t>
            </a:r>
            <a:r>
              <a:rPr lang="en-US" sz="2400" dirty="0"/>
              <a:t> significant digits</a:t>
            </a:r>
          </a:p>
          <a:p>
            <a:pPr marL="1066800" lvl="1" indent="-6096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 dirty="0">
                <a:solidFill>
                  <a:srgbClr val="3333FF"/>
                </a:solidFill>
              </a:rPr>
              <a:t>Example:</a:t>
            </a:r>
            <a:r>
              <a:rPr lang="en-US" sz="2400" dirty="0"/>
              <a:t> (20.0 m)(3.0 m) = ? </a:t>
            </a:r>
          </a:p>
          <a:p>
            <a:pPr lvl="1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sz="2400" dirty="0">
                <a:sym typeface="Symbol" panose="05050102010706020507" pitchFamily="18" charset="2"/>
              </a:rPr>
              <a:t>				 </a:t>
            </a:r>
            <a:r>
              <a:rPr lang="en-US" altLang="en-US" sz="2400" dirty="0"/>
              <a:t>60. m or 6.0 x 10</a:t>
            </a:r>
            <a:r>
              <a:rPr lang="en-US" altLang="en-US" sz="2400" baseline="30000" dirty="0"/>
              <a:t>1</a:t>
            </a:r>
            <a:r>
              <a:rPr lang="en-US" altLang="en-US" sz="2400" dirty="0"/>
              <a:t> m</a:t>
            </a:r>
            <a:endParaRPr lang="en-US" sz="24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92512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76200" y="685800"/>
            <a:ext cx="9067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38125" indent="-238125">
              <a:buFontTx/>
              <a:buChar char="•"/>
              <a:defRPr/>
            </a:pPr>
            <a:r>
              <a:rPr 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When adding or subtracting do NOT extend the result beyond the first column with a doubtful figure.  For example, …</a:t>
            </a:r>
          </a:p>
        </p:txBody>
      </p:sp>
      <p:pic>
        <p:nvPicPr>
          <p:cNvPr id="10244" name="Picture 5" descr="adding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85938"/>
            <a:ext cx="7162800" cy="507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2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SDs – Addition and Subtraction</a:t>
            </a:r>
          </a:p>
        </p:txBody>
      </p:sp>
    </p:spTree>
    <p:extLst>
      <p:ext uri="{BB962C8B-B14F-4D97-AF65-F5344CB8AC3E}">
        <p14:creationId xmlns:p14="http://schemas.microsoft.com/office/powerpoint/2010/main" val="1184163321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76200" y="962025"/>
            <a:ext cx="906780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38125" indent="-238125">
              <a:buFontTx/>
              <a:buChar char="•"/>
              <a:defRPr/>
            </a:pP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What is 16.874 + 2.6?</a:t>
            </a: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What is 16.874 - 2.6?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2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SDs – Addition and Subtraction</a:t>
            </a:r>
          </a:p>
        </p:txBody>
      </p:sp>
      <p:pic>
        <p:nvPicPr>
          <p:cNvPr id="25605" name="Picture 5" descr="adding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138" y="1092200"/>
            <a:ext cx="3217862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6" descr="substracting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4010025"/>
            <a:ext cx="3300412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87349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76200" y="685800"/>
            <a:ext cx="9067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38125" indent="-238125">
              <a:buFontTx/>
              <a:buChar char="•"/>
              <a:defRPr/>
            </a:pP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When multiplying or dividing the answer will have the same number of significant digits as the least accurate number used to get the answer.  For example, …</a:t>
            </a:r>
          </a:p>
          <a:p>
            <a:pPr marL="238125" indent="-238125">
              <a:defRPr/>
            </a:pPr>
            <a:endParaRPr lang="en-US" sz="16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 algn="ctr">
              <a:defRPr/>
            </a:pP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2.005 g / 4.95 mL = 0.405 g/mL</a:t>
            </a: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What is 16.874 x 2.6?</a:t>
            </a: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What is 16.874 / 2.6?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2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SDs – Multiplication and Division</a:t>
            </a:r>
          </a:p>
        </p:txBody>
      </p:sp>
      <p:pic>
        <p:nvPicPr>
          <p:cNvPr id="23557" name="Picture 5" descr="multiply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125" y="2667000"/>
            <a:ext cx="3546475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 descr="divide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257800"/>
            <a:ext cx="492760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584487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76200" y="923925"/>
            <a:ext cx="9067800" cy="59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38125" indent="-238125">
              <a:buFontTx/>
              <a:buChar char="•"/>
              <a:defRPr/>
            </a:pPr>
            <a:r>
              <a:rPr 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An </a:t>
            </a:r>
            <a:r>
              <a:rPr 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average</a:t>
            </a:r>
            <a:r>
              <a:rPr 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 is the best estimate of the true value of a parameter.</a:t>
            </a:r>
          </a:p>
          <a:p>
            <a:pPr marL="238125" indent="-238125">
              <a:buFontTx/>
              <a:buChar char="•"/>
              <a:defRPr/>
            </a:pPr>
            <a:r>
              <a:rPr 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A </a:t>
            </a:r>
            <a:r>
              <a:rPr 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standard deviation</a:t>
            </a:r>
            <a:r>
              <a:rPr 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 is a measure of precision.</a:t>
            </a:r>
          </a:p>
          <a:p>
            <a:pPr marL="238125" indent="-238125">
              <a:buFontTx/>
              <a:buChar char="•"/>
              <a:defRPr/>
            </a:pPr>
            <a:endParaRPr lang="en-US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endParaRPr lang="en-US" sz="24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238125" indent="-238125">
              <a:buFontTx/>
              <a:buChar char="•"/>
              <a:defRPr/>
            </a:pPr>
            <a:r>
              <a:rPr 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Averages and standard deviations require several steps to calculate.  You must keep track of the number of significant figures during each step.  Do </a:t>
            </a:r>
            <a:r>
              <a:rPr lang="en-US" sz="2400" b="1" u="sng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NOT</a:t>
            </a:r>
            <a:r>
              <a:rPr 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 discard or round any figures until the final number is reported.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0" y="147935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SDs and Calculations that Require Multiple Steps</a:t>
            </a:r>
            <a:endParaRPr lang="en-US" sz="2800" dirty="0">
              <a:solidFill>
                <a:srgbClr val="FFFF00"/>
              </a:solidFill>
              <a:latin typeface="Arial" charset="0"/>
              <a:cs typeface="+mn-cs"/>
            </a:endParaRPr>
          </a:p>
        </p:txBody>
      </p:sp>
      <p:pic>
        <p:nvPicPr>
          <p:cNvPr id="13316" name="Picture 6" descr="average and standard deviation 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19313"/>
            <a:ext cx="8686800" cy="324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218115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5" descr="average and standard deviation 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62000"/>
            <a:ext cx="7620000" cy="604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 Box 6"/>
          <p:cNvSpPr txBox="1">
            <a:spLocks noChangeArrowheads="1"/>
          </p:cNvSpPr>
          <p:nvPr/>
        </p:nvSpPr>
        <p:spPr bwMode="auto">
          <a:xfrm>
            <a:off x="3657600" y="1928812"/>
            <a:ext cx="1447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3333CC"/>
                </a:solidFill>
                <a:latin typeface="Arial" panose="020B0604020202020204" pitchFamily="34" charset="0"/>
                <a:cs typeface="+mn-cs"/>
              </a:rPr>
              <a:t>2 Significant Figures </a:t>
            </a:r>
          </a:p>
        </p:txBody>
      </p:sp>
      <p:sp>
        <p:nvSpPr>
          <p:cNvPr id="14341" name="Text Box 7"/>
          <p:cNvSpPr txBox="1">
            <a:spLocks noChangeArrowheads="1"/>
          </p:cNvSpPr>
          <p:nvPr/>
        </p:nvSpPr>
        <p:spPr bwMode="auto">
          <a:xfrm>
            <a:off x="1066800" y="4716462"/>
            <a:ext cx="297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  <a:cs typeface="+mn-cs"/>
              </a:rPr>
              <a:t>1 Significant Figure </a:t>
            </a:r>
          </a:p>
        </p:txBody>
      </p:sp>
      <p:sp>
        <p:nvSpPr>
          <p:cNvPr id="14342" name="Line 11"/>
          <p:cNvSpPr>
            <a:spLocks noChangeShapeType="1"/>
          </p:cNvSpPr>
          <p:nvPr/>
        </p:nvSpPr>
        <p:spPr bwMode="auto">
          <a:xfrm flipH="1">
            <a:off x="3124200" y="2462212"/>
            <a:ext cx="1219200" cy="762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43" name="Line 12"/>
          <p:cNvSpPr>
            <a:spLocks noChangeShapeType="1"/>
          </p:cNvSpPr>
          <p:nvPr/>
        </p:nvSpPr>
        <p:spPr bwMode="auto">
          <a:xfrm flipH="1">
            <a:off x="3505200" y="2462212"/>
            <a:ext cx="838200" cy="762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44" name="Line 13"/>
          <p:cNvSpPr>
            <a:spLocks noChangeShapeType="1"/>
          </p:cNvSpPr>
          <p:nvPr/>
        </p:nvSpPr>
        <p:spPr bwMode="auto">
          <a:xfrm flipH="1">
            <a:off x="3886200" y="2462212"/>
            <a:ext cx="457200" cy="762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45" name="Line 14"/>
          <p:cNvSpPr>
            <a:spLocks noChangeShapeType="1"/>
          </p:cNvSpPr>
          <p:nvPr/>
        </p:nvSpPr>
        <p:spPr bwMode="auto">
          <a:xfrm>
            <a:off x="4343400" y="2462212"/>
            <a:ext cx="76200" cy="762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46" name="Line 15"/>
          <p:cNvSpPr>
            <a:spLocks noChangeShapeType="1"/>
          </p:cNvSpPr>
          <p:nvPr/>
        </p:nvSpPr>
        <p:spPr bwMode="auto">
          <a:xfrm>
            <a:off x="4343400" y="2462212"/>
            <a:ext cx="685800" cy="914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47" name="Line 16"/>
          <p:cNvSpPr>
            <a:spLocks noChangeShapeType="1"/>
          </p:cNvSpPr>
          <p:nvPr/>
        </p:nvSpPr>
        <p:spPr bwMode="auto">
          <a:xfrm>
            <a:off x="4343400" y="2462212"/>
            <a:ext cx="1371600" cy="914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48" name="Text Box 18"/>
          <p:cNvSpPr txBox="1">
            <a:spLocks noChangeArrowheads="1"/>
          </p:cNvSpPr>
          <p:nvPr/>
        </p:nvSpPr>
        <p:spPr bwMode="auto">
          <a:xfrm>
            <a:off x="4114800" y="3649662"/>
            <a:ext cx="4038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3333CC"/>
                </a:solidFill>
                <a:latin typeface="Arial" panose="020B0604020202020204" pitchFamily="34" charset="0"/>
                <a:cs typeface="+mn-cs"/>
              </a:rPr>
              <a:t>2 Significant Figures </a:t>
            </a:r>
          </a:p>
        </p:txBody>
      </p:sp>
      <p:sp>
        <p:nvSpPr>
          <p:cNvPr id="14349" name="Line 19"/>
          <p:cNvSpPr>
            <a:spLocks noChangeShapeType="1"/>
          </p:cNvSpPr>
          <p:nvPr/>
        </p:nvSpPr>
        <p:spPr bwMode="auto">
          <a:xfrm flipH="1">
            <a:off x="1524000" y="4976812"/>
            <a:ext cx="3048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50" name="Line 20"/>
          <p:cNvSpPr>
            <a:spLocks noChangeShapeType="1"/>
          </p:cNvSpPr>
          <p:nvPr/>
        </p:nvSpPr>
        <p:spPr bwMode="auto">
          <a:xfrm flipH="1">
            <a:off x="2514600" y="4976812"/>
            <a:ext cx="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51" name="Text Box 22"/>
          <p:cNvSpPr txBox="1">
            <a:spLocks noChangeArrowheads="1"/>
          </p:cNvSpPr>
          <p:nvPr/>
        </p:nvSpPr>
        <p:spPr bwMode="auto">
          <a:xfrm>
            <a:off x="3200400" y="5891212"/>
            <a:ext cx="3581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008000"/>
                </a:solidFill>
                <a:latin typeface="Arial" panose="020B0604020202020204" pitchFamily="34" charset="0"/>
                <a:cs typeface="+mn-cs"/>
              </a:rPr>
              <a:t>0 Significant Figures </a:t>
            </a:r>
          </a:p>
        </p:txBody>
      </p:sp>
      <p:sp>
        <p:nvSpPr>
          <p:cNvPr id="14352" name="Text Box 23"/>
          <p:cNvSpPr txBox="1">
            <a:spLocks noChangeArrowheads="1"/>
          </p:cNvSpPr>
          <p:nvPr/>
        </p:nvSpPr>
        <p:spPr bwMode="auto">
          <a:xfrm>
            <a:off x="4419600" y="4716462"/>
            <a:ext cx="2362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  <a:cs typeface="+mn-cs"/>
              </a:rPr>
              <a:t>1 Significant Figure </a:t>
            </a:r>
          </a:p>
        </p:txBody>
      </p:sp>
      <p:sp>
        <p:nvSpPr>
          <p:cNvPr id="14353" name="Line 24"/>
          <p:cNvSpPr>
            <a:spLocks noChangeShapeType="1"/>
          </p:cNvSpPr>
          <p:nvPr/>
        </p:nvSpPr>
        <p:spPr bwMode="auto">
          <a:xfrm flipH="1">
            <a:off x="4800600" y="4976812"/>
            <a:ext cx="762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54" name="Line 25"/>
          <p:cNvSpPr>
            <a:spLocks noChangeShapeType="1"/>
          </p:cNvSpPr>
          <p:nvPr/>
        </p:nvSpPr>
        <p:spPr bwMode="auto">
          <a:xfrm>
            <a:off x="5562600" y="4976812"/>
            <a:ext cx="762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55" name="Line 26"/>
          <p:cNvSpPr>
            <a:spLocks noChangeShapeType="1"/>
          </p:cNvSpPr>
          <p:nvPr/>
        </p:nvSpPr>
        <p:spPr bwMode="auto">
          <a:xfrm flipH="1" flipV="1">
            <a:off x="3429000" y="5434012"/>
            <a:ext cx="762000" cy="5334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56" name="Line 27"/>
          <p:cNvSpPr>
            <a:spLocks noChangeShapeType="1"/>
          </p:cNvSpPr>
          <p:nvPr/>
        </p:nvSpPr>
        <p:spPr bwMode="auto">
          <a:xfrm flipV="1">
            <a:off x="5943600" y="5434012"/>
            <a:ext cx="457200" cy="53340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57" name="Text Box 28"/>
          <p:cNvSpPr txBox="1">
            <a:spLocks noChangeArrowheads="1"/>
          </p:cNvSpPr>
          <p:nvPr/>
        </p:nvSpPr>
        <p:spPr bwMode="auto">
          <a:xfrm>
            <a:off x="1066800" y="5891212"/>
            <a:ext cx="3048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FF0000"/>
                </a:solidFill>
                <a:latin typeface="Arial" panose="020B0604020202020204" pitchFamily="34" charset="0"/>
                <a:cs typeface="+mn-cs"/>
              </a:rPr>
              <a:t>1 Significant Figure </a:t>
            </a:r>
          </a:p>
        </p:txBody>
      </p:sp>
      <p:sp>
        <p:nvSpPr>
          <p:cNvPr id="14358" name="Line 29"/>
          <p:cNvSpPr>
            <a:spLocks noChangeShapeType="1"/>
          </p:cNvSpPr>
          <p:nvPr/>
        </p:nvSpPr>
        <p:spPr bwMode="auto">
          <a:xfrm flipH="1">
            <a:off x="1447800" y="6151562"/>
            <a:ext cx="457200" cy="1968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59" name="Line 30"/>
          <p:cNvSpPr>
            <a:spLocks noChangeShapeType="1"/>
          </p:cNvSpPr>
          <p:nvPr/>
        </p:nvSpPr>
        <p:spPr bwMode="auto">
          <a:xfrm>
            <a:off x="2133600" y="6196012"/>
            <a:ext cx="3048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60" name="Line 31"/>
          <p:cNvSpPr>
            <a:spLocks noChangeShapeType="1"/>
          </p:cNvSpPr>
          <p:nvPr/>
        </p:nvSpPr>
        <p:spPr bwMode="auto">
          <a:xfrm>
            <a:off x="3352800" y="6196012"/>
            <a:ext cx="5334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61" name="Line 32"/>
          <p:cNvSpPr>
            <a:spLocks noChangeShapeType="1"/>
          </p:cNvSpPr>
          <p:nvPr/>
        </p:nvSpPr>
        <p:spPr bwMode="auto">
          <a:xfrm>
            <a:off x="2819400" y="6196012"/>
            <a:ext cx="3048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62" name="Line 33"/>
          <p:cNvSpPr>
            <a:spLocks noChangeShapeType="1"/>
          </p:cNvSpPr>
          <p:nvPr/>
        </p:nvSpPr>
        <p:spPr bwMode="auto">
          <a:xfrm flipH="1">
            <a:off x="4800600" y="3910012"/>
            <a:ext cx="304800" cy="228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63" name="Line 34"/>
          <p:cNvSpPr>
            <a:spLocks noChangeShapeType="1"/>
          </p:cNvSpPr>
          <p:nvPr/>
        </p:nvSpPr>
        <p:spPr bwMode="auto">
          <a:xfrm flipH="1">
            <a:off x="4419600" y="3910012"/>
            <a:ext cx="685800" cy="228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64" name="Line 35"/>
          <p:cNvSpPr>
            <a:spLocks noChangeShapeType="1"/>
          </p:cNvSpPr>
          <p:nvPr/>
        </p:nvSpPr>
        <p:spPr bwMode="auto">
          <a:xfrm flipH="1">
            <a:off x="5715000" y="3910012"/>
            <a:ext cx="304800" cy="228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65" name="Line 36"/>
          <p:cNvSpPr>
            <a:spLocks noChangeShapeType="1"/>
          </p:cNvSpPr>
          <p:nvPr/>
        </p:nvSpPr>
        <p:spPr bwMode="auto">
          <a:xfrm>
            <a:off x="6019800" y="3910012"/>
            <a:ext cx="152400" cy="228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66" name="Line 37"/>
          <p:cNvSpPr>
            <a:spLocks noChangeShapeType="1"/>
          </p:cNvSpPr>
          <p:nvPr/>
        </p:nvSpPr>
        <p:spPr bwMode="auto">
          <a:xfrm>
            <a:off x="6934200" y="3910012"/>
            <a:ext cx="152400" cy="228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67" name="Line 38"/>
          <p:cNvSpPr>
            <a:spLocks noChangeShapeType="1"/>
          </p:cNvSpPr>
          <p:nvPr/>
        </p:nvSpPr>
        <p:spPr bwMode="auto">
          <a:xfrm>
            <a:off x="6934200" y="3910012"/>
            <a:ext cx="609600" cy="228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68" name="Text Box 39"/>
          <p:cNvSpPr txBox="1">
            <a:spLocks noChangeArrowheads="1"/>
          </p:cNvSpPr>
          <p:nvPr/>
        </p:nvSpPr>
        <p:spPr bwMode="auto">
          <a:xfrm>
            <a:off x="838200" y="3649662"/>
            <a:ext cx="4038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  <a:cs typeface="+mn-cs"/>
              </a:rPr>
              <a:t>Significant Figures </a:t>
            </a:r>
          </a:p>
        </p:txBody>
      </p:sp>
      <p:sp>
        <p:nvSpPr>
          <p:cNvPr id="14369" name="Text Box 40"/>
          <p:cNvSpPr txBox="1">
            <a:spLocks noChangeArrowheads="1"/>
          </p:cNvSpPr>
          <p:nvPr/>
        </p:nvSpPr>
        <p:spPr bwMode="auto">
          <a:xfrm>
            <a:off x="1600200" y="3529012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000000"/>
                </a:solidFill>
                <a:cs typeface="+mn-cs"/>
              </a:rPr>
              <a:t>∞</a:t>
            </a:r>
          </a:p>
        </p:txBody>
      </p:sp>
      <p:sp>
        <p:nvSpPr>
          <p:cNvPr id="14370" name="Line 41"/>
          <p:cNvSpPr>
            <a:spLocks noChangeShapeType="1"/>
          </p:cNvSpPr>
          <p:nvPr/>
        </p:nvSpPr>
        <p:spPr bwMode="auto">
          <a:xfrm flipV="1">
            <a:off x="3124200" y="3605212"/>
            <a:ext cx="22860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371" name="Line 42"/>
          <p:cNvSpPr>
            <a:spLocks noChangeShapeType="1"/>
          </p:cNvSpPr>
          <p:nvPr/>
        </p:nvSpPr>
        <p:spPr bwMode="auto">
          <a:xfrm flipV="1">
            <a:off x="3733800" y="3605212"/>
            <a:ext cx="6096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36" name="Text Box 3"/>
          <p:cNvSpPr txBox="1">
            <a:spLocks noChangeArrowheads="1"/>
          </p:cNvSpPr>
          <p:nvPr/>
        </p:nvSpPr>
        <p:spPr bwMode="auto">
          <a:xfrm>
            <a:off x="0" y="147935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SDs and Calculations that Require Multiple Steps</a:t>
            </a:r>
            <a:endParaRPr lang="en-US" sz="2800" dirty="0">
              <a:solidFill>
                <a:srgbClr val="FFFF00"/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75727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76200" y="15875"/>
            <a:ext cx="9067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38125" indent="-238125">
              <a:buFontTx/>
              <a:buChar char="•"/>
              <a:defRPr/>
            </a:pP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What is average and standard deviation for the following 3 measurements of the same sample?</a:t>
            </a:r>
          </a:p>
        </p:txBody>
      </p:sp>
      <p:pic>
        <p:nvPicPr>
          <p:cNvPr id="15363" name="Picture 7" descr="average and standard deviation 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762000"/>
            <a:ext cx="7989887" cy="609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8" descr="average and standard deviation 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3933825"/>
            <a:ext cx="7897812" cy="28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3" name="Picture 9" descr="average and standard deviation 0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14663"/>
            <a:ext cx="7924800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370968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73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081135-DDBE-4E12-9814-5C31B299BF64}" type="slidenum">
              <a:rPr lang="ar-SA" smtClean="0"/>
              <a:pPr/>
              <a:t>43</a:t>
            </a:fld>
            <a:endParaRPr lang="en-US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Rounding and Chopping</a:t>
            </a:r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endParaRPr lang="en-US"/>
          </a:p>
          <a:p>
            <a:pPr marL="609600" indent="-609600" eaLnBrk="1" hangingPunct="1"/>
            <a:r>
              <a:rPr lang="en-US" sz="2400"/>
              <a:t>Rounding: Replace the number by the nearest   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sz="2400"/>
              <a:t>                     machine number.</a:t>
            </a:r>
          </a:p>
          <a:p>
            <a:pPr marL="609600" indent="-609600" eaLnBrk="1" hangingPunct="1"/>
            <a:endParaRPr lang="en-US" sz="2400"/>
          </a:p>
          <a:p>
            <a:pPr marL="609600" indent="-609600" eaLnBrk="1" hangingPunct="1"/>
            <a:r>
              <a:rPr lang="en-US" sz="2400"/>
              <a:t>Chopping: Throw all extra digits.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837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8CFAA8B-0901-4CCF-A74B-E644E100558E}" type="slidenum">
              <a:rPr lang="ar-SA" smtClean="0"/>
              <a:pPr/>
              <a:t>44</a:t>
            </a:fld>
            <a:endParaRPr lang="en-US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Rounding and Chopping - Example</a:t>
            </a:r>
          </a:p>
        </p:txBody>
      </p:sp>
      <p:pic>
        <p:nvPicPr>
          <p:cNvPr id="58374" name="Picture 3" descr="Fig03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1524000"/>
            <a:ext cx="7143750" cy="477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331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6B44EC-0758-48DE-861B-7857E3DCFFE3}" type="slidenum">
              <a:rPr lang="ar-SA" smtClean="0"/>
              <a:pPr/>
              <a:t>45</a:t>
            </a:fld>
            <a:endParaRPr lang="en-US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914400" y="3733800"/>
            <a:ext cx="6934200" cy="1905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Rectangle 3"/>
          <p:cNvSpPr>
            <a:spLocks noChangeArrowheads="1"/>
          </p:cNvSpPr>
          <p:nvPr/>
        </p:nvSpPr>
        <p:spPr bwMode="auto">
          <a:xfrm>
            <a:off x="914400" y="2286000"/>
            <a:ext cx="6934200" cy="1371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82000" cy="4191000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/>
              <a:t>Can be computed if the true value is known:</a:t>
            </a:r>
          </a:p>
          <a:p>
            <a:pPr marL="609600" indent="-609600" eaLnBrk="1" hangingPunct="1">
              <a:buFont typeface="Wingdings" pitchFamily="2" charset="2"/>
              <a:buNone/>
            </a:pPr>
            <a:endParaRPr lang="en-US" sz="1500"/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sz="1900"/>
              <a:t> </a:t>
            </a:r>
          </a:p>
        </p:txBody>
      </p:sp>
      <p:graphicFrame>
        <p:nvGraphicFramePr>
          <p:cNvPr id="1331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038225" y="2362200"/>
          <a:ext cx="6227763" cy="304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36760" imgH="1143000" progId="Equation.3">
                  <p:embed/>
                </p:oleObj>
              </mc:Choice>
              <mc:Fallback>
                <p:oleObj name="Equation" r:id="rId3" imgW="2336760" imgH="114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2362200"/>
                        <a:ext cx="6227763" cy="304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7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4400" dirty="0">
                <a:solidFill>
                  <a:schemeClr val="tx2"/>
                </a:solidFill>
                <a:latin typeface="Garamond" pitchFamily="18" charset="0"/>
              </a:rPr>
              <a:t>Error Definitions – </a:t>
            </a:r>
            <a:r>
              <a:rPr lang="en-US" sz="2900" dirty="0">
                <a:solidFill>
                  <a:schemeClr val="tx2"/>
                </a:solidFill>
                <a:latin typeface="Garamond" pitchFamily="18" charset="0"/>
              </a:rPr>
              <a:t>True Error</a:t>
            </a:r>
            <a:r>
              <a:rPr lang="en-US" sz="5500" dirty="0">
                <a:solidFill>
                  <a:schemeClr val="tx2"/>
                </a:solidFill>
                <a:latin typeface="Garamond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434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2AB3AD-9901-46D0-9823-7416D1EFEA78}" type="slidenum">
              <a:rPr lang="ar-SA" smtClean="0"/>
              <a:pPr/>
              <a:t>46</a:t>
            </a:fld>
            <a:endParaRPr lang="en-US"/>
          </a:p>
        </p:txBody>
      </p:sp>
      <p:sp>
        <p:nvSpPr>
          <p:cNvPr id="14342" name="Rectangle 2"/>
          <p:cNvSpPr>
            <a:spLocks noChangeArrowheads="1"/>
          </p:cNvSpPr>
          <p:nvPr/>
        </p:nvSpPr>
        <p:spPr bwMode="auto">
          <a:xfrm>
            <a:off x="914400" y="3733800"/>
            <a:ext cx="7543800" cy="1905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Rectangle 3"/>
          <p:cNvSpPr>
            <a:spLocks noChangeArrowheads="1"/>
          </p:cNvSpPr>
          <p:nvPr/>
        </p:nvSpPr>
        <p:spPr bwMode="auto">
          <a:xfrm>
            <a:off x="914400" y="2286000"/>
            <a:ext cx="7543800" cy="1371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82000" cy="4191000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sz="2900"/>
              <a:t>When the true value is not known:</a:t>
            </a:r>
          </a:p>
          <a:p>
            <a:pPr marL="609600" indent="-609600" eaLnBrk="1" hangingPunct="1">
              <a:buFont typeface="Wingdings" pitchFamily="2" charset="2"/>
              <a:buNone/>
            </a:pPr>
            <a:endParaRPr lang="en-US" sz="1500"/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sz="1900"/>
              <a:t> </a:t>
            </a:r>
          </a:p>
        </p:txBody>
      </p:sp>
      <p:graphicFrame>
        <p:nvGraphicFramePr>
          <p:cNvPr id="14338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90600" y="2432050"/>
          <a:ext cx="7391400" cy="293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82880" imgH="1143000" progId="Equation.3">
                  <p:embed/>
                </p:oleObj>
              </mc:Choice>
              <mc:Fallback>
                <p:oleObj name="Equation" r:id="rId3" imgW="2882880" imgH="114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432050"/>
                        <a:ext cx="7391400" cy="293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7"/>
          <p:cNvSpPr>
            <a:spLocks noChangeArrowheads="1"/>
          </p:cNvSpPr>
          <p:nvPr/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4400" dirty="0">
                <a:solidFill>
                  <a:schemeClr val="tx2"/>
                </a:solidFill>
                <a:latin typeface="Garamond" pitchFamily="18" charset="0"/>
              </a:rPr>
              <a:t>Error Definitions – </a:t>
            </a:r>
            <a:r>
              <a:rPr lang="en-US" sz="2900" dirty="0">
                <a:solidFill>
                  <a:schemeClr val="tx2"/>
                </a:solidFill>
                <a:latin typeface="Garamond" pitchFamily="18" charset="0"/>
              </a:rPr>
              <a:t>Estimated Error</a:t>
            </a:r>
            <a:r>
              <a:rPr lang="en-US" sz="5500" dirty="0">
                <a:solidFill>
                  <a:schemeClr val="tx2"/>
                </a:solidFill>
                <a:latin typeface="Garamond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536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0A1782-B446-479A-A35C-5EDB5BDCB35B}" type="slidenum">
              <a:rPr lang="ar-SA" smtClean="0"/>
              <a:pPr/>
              <a:t>47</a:t>
            </a:fld>
            <a:endParaRPr lang="en-US"/>
          </a:p>
        </p:txBody>
      </p:sp>
      <p:sp>
        <p:nvSpPr>
          <p:cNvPr id="15367" name="Rectangle 2"/>
          <p:cNvSpPr>
            <a:spLocks noChangeArrowheads="1"/>
          </p:cNvSpPr>
          <p:nvPr/>
        </p:nvSpPr>
        <p:spPr bwMode="auto">
          <a:xfrm>
            <a:off x="457200" y="3429000"/>
            <a:ext cx="8305800" cy="2362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Rectangle 3"/>
          <p:cNvSpPr>
            <a:spLocks noChangeArrowheads="1"/>
          </p:cNvSpPr>
          <p:nvPr/>
        </p:nvSpPr>
        <p:spPr bwMode="auto">
          <a:xfrm>
            <a:off x="457200" y="1600200"/>
            <a:ext cx="8305800" cy="1600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8305800" cy="29718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900"/>
              <a:t>We say that the estimate is correct to </a:t>
            </a:r>
            <a:r>
              <a:rPr lang="en-US" sz="2900" i="1"/>
              <a:t>n</a:t>
            </a:r>
            <a:r>
              <a:rPr lang="en-US" sz="2900"/>
              <a:t> decimal digits if: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900"/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900"/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900"/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900"/>
              <a:t>We say that the estimate is correct to </a:t>
            </a:r>
            <a:r>
              <a:rPr lang="en-US" sz="2900" i="1"/>
              <a:t>n</a:t>
            </a:r>
            <a:r>
              <a:rPr lang="en-US" sz="2900"/>
              <a:t> decimal digits </a:t>
            </a:r>
            <a:r>
              <a:rPr lang="en-US" sz="2900" b="1"/>
              <a:t>rounded</a:t>
            </a:r>
            <a:r>
              <a:rPr lang="en-US" sz="2900"/>
              <a:t> if: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900"/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900"/>
          </a:p>
        </p:txBody>
      </p:sp>
      <p:graphicFrame>
        <p:nvGraphicFramePr>
          <p:cNvPr id="15362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00600" y="2220913"/>
          <a:ext cx="28956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760" imgH="279360" progId="Equation.3">
                  <p:embed/>
                </p:oleObj>
              </mc:Choice>
              <mc:Fallback>
                <p:oleObj name="Equation" r:id="rId3" imgW="977760" imgH="2793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220913"/>
                        <a:ext cx="2895600" cy="827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876800" y="4392613"/>
          <a:ext cx="3810000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393480" progId="Equation.3">
                  <p:embed/>
                </p:oleObj>
              </mc:Choice>
              <mc:Fallback>
                <p:oleObj name="Equation" r:id="rId5" imgW="128268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392613"/>
                        <a:ext cx="3810000" cy="1169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Notation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593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3DBEEA-95CE-44A7-B1BC-CAF0059FD830}" type="slidenum">
              <a:rPr lang="ar-SA" smtClean="0"/>
              <a:pPr/>
              <a:t>48</a:t>
            </a:fld>
            <a:endParaRPr lang="en-US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59398" name="Rectangle 3"/>
          <p:cNvSpPr>
            <a:spLocks noChangeArrowheads="1"/>
          </p:cNvSpPr>
          <p:nvPr/>
        </p:nvSpPr>
        <p:spPr bwMode="auto">
          <a:xfrm>
            <a:off x="533400" y="1752600"/>
            <a:ext cx="8077200" cy="403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/>
              <a:t>Number Representation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/>
              <a:t>	Numbers that have a finite expansion in one numbering system may have an infinite expansion in another numbering system.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endParaRPr lang="en-US" sz="240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/>
              <a:t>Normalized Floating Point Representation</a:t>
            </a:r>
          </a:p>
          <a:p>
            <a:pPr marL="742950" lvl="1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/>
              <a:t>Efficient in representing very small or very large numbers,</a:t>
            </a:r>
          </a:p>
          <a:p>
            <a:pPr marL="742950" lvl="1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/>
              <a:t>Difference between machine numbers is not uniform,</a:t>
            </a:r>
          </a:p>
          <a:p>
            <a:pPr marL="742950" lvl="1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/>
              <a:t>Representation error depends on the number of bits used in the mantissa.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6042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514BA4-F017-4327-8864-14A345C644DF}" type="slidenum">
              <a:rPr lang="ar-SA" smtClean="0"/>
              <a:pPr/>
              <a:t>49</a:t>
            </a:fld>
            <a:endParaRPr lang="en-US"/>
          </a:p>
        </p:txBody>
      </p:sp>
      <p:sp>
        <p:nvSpPr>
          <p:cNvPr id="6042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3500" b="1"/>
              <a:t>Lectures 3-4</a:t>
            </a:r>
            <a:br>
              <a:rPr lang="en-US" sz="4300"/>
            </a:br>
            <a:r>
              <a:rPr lang="en-US" sz="4300" b="1"/>
              <a:t>Taylor Theorem</a:t>
            </a:r>
          </a:p>
        </p:txBody>
      </p:sp>
      <p:sp>
        <p:nvSpPr>
          <p:cNvPr id="60422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901950"/>
          </a:xfrm>
        </p:spPr>
        <p:txBody>
          <a:bodyPr/>
          <a:lstStyle/>
          <a:p>
            <a:pPr algn="l" eaLnBrk="1" hangingPunct="1">
              <a:buFont typeface="Wingdings" pitchFamily="2" charset="2"/>
              <a:buChar char="p"/>
            </a:pPr>
            <a:r>
              <a:rPr lang="en-US" sz="3200"/>
              <a:t> </a:t>
            </a:r>
            <a:r>
              <a:rPr lang="en-US"/>
              <a:t>Motivation</a:t>
            </a:r>
          </a:p>
          <a:p>
            <a:pPr algn="l" eaLnBrk="1" hangingPunct="1">
              <a:buFont typeface="Wingdings" pitchFamily="2" charset="2"/>
              <a:buChar char="p"/>
            </a:pPr>
            <a:r>
              <a:rPr lang="en-US"/>
              <a:t> Taylor Theorem </a:t>
            </a:r>
          </a:p>
          <a:p>
            <a:pPr algn="l" eaLnBrk="1" hangingPunct="1">
              <a:buFont typeface="Wingdings" pitchFamily="2" charset="2"/>
              <a:buChar char="p"/>
            </a:pPr>
            <a:r>
              <a:rPr lang="en-US"/>
              <a:t> Examples</a:t>
            </a:r>
            <a:endParaRPr lang="en-US" sz="3200"/>
          </a:p>
          <a:p>
            <a:pPr eaLnBrk="1" hangingPunct="1"/>
            <a:endParaRPr lang="en-US"/>
          </a:p>
          <a:p>
            <a:pPr eaLnBrk="1" hangingPunct="1"/>
            <a:r>
              <a:rPr lang="en-US" sz="2400" b="1"/>
              <a:t>Reading assignment:</a:t>
            </a:r>
            <a:r>
              <a:rPr lang="en-US" sz="2400"/>
              <a:t> Chapter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639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9C0E7A-A2FA-4AF3-8F3D-27FB182CD0C8}" type="slidenum">
              <a:rPr lang="ar-SA" smtClean="0"/>
              <a:pPr/>
              <a:t>50</a:t>
            </a:fld>
            <a:endParaRPr lang="en-US"/>
          </a:p>
        </p:txBody>
      </p:sp>
      <p:sp>
        <p:nvSpPr>
          <p:cNvPr id="163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Motivation</a:t>
            </a:r>
          </a:p>
        </p:txBody>
      </p:sp>
      <p:sp>
        <p:nvSpPr>
          <p:cNvPr id="163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828800"/>
            <a:ext cx="7624763" cy="41148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sz="2400" dirty="0"/>
              <a:t>We can easily compute expressions like: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1100" dirty="0"/>
          </a:p>
          <a:p>
            <a:pPr eaLnBrk="1" hangingPunct="1"/>
            <a:r>
              <a:rPr lang="en-US" sz="2400" dirty="0"/>
              <a:t>Taylor series is used to express function in an approximate fashion</a:t>
            </a:r>
          </a:p>
        </p:txBody>
      </p:sp>
      <p:graphicFrame>
        <p:nvGraphicFramePr>
          <p:cNvPr id="1638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397758132"/>
              </p:ext>
            </p:extLst>
          </p:nvPr>
        </p:nvGraphicFramePr>
        <p:xfrm>
          <a:off x="1328738" y="2314575"/>
          <a:ext cx="5376862" cy="177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927000" progId="Equation.DSMT4">
                  <p:embed/>
                </p:oleObj>
              </mc:Choice>
              <mc:Fallback>
                <p:oleObj name="Equation" r:id="rId3" imgW="2806560" imgH="927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314575"/>
                        <a:ext cx="5376862" cy="177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5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445700940"/>
              </p:ext>
            </p:extLst>
          </p:nvPr>
        </p:nvGraphicFramePr>
        <p:xfrm>
          <a:off x="865188" y="3962400"/>
          <a:ext cx="5540375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58840" imgH="431640" progId="Equation.DSMT4">
                  <p:embed/>
                </p:oleObj>
              </mc:Choice>
              <mc:Fallback>
                <p:oleObj name="Equation" r:id="rId5" imgW="295884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3962400"/>
                        <a:ext cx="5540375" cy="808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6324600" y="3952875"/>
            <a:ext cx="2133600" cy="990600"/>
            <a:chOff x="6324600" y="3952875"/>
            <a:chExt cx="2133600" cy="990600"/>
          </a:xfrm>
        </p:grpSpPr>
        <p:sp>
          <p:nvSpPr>
            <p:cNvPr id="199686" name="Line 6"/>
            <p:cNvSpPr>
              <a:spLocks noChangeShapeType="1"/>
            </p:cNvSpPr>
            <p:nvPr/>
          </p:nvSpPr>
          <p:spPr bwMode="auto">
            <a:xfrm flipH="1">
              <a:off x="6324600" y="4943475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687" name="Line 7"/>
            <p:cNvSpPr>
              <a:spLocks noChangeShapeType="1"/>
            </p:cNvSpPr>
            <p:nvPr/>
          </p:nvSpPr>
          <p:spPr bwMode="auto">
            <a:xfrm flipV="1">
              <a:off x="6324600" y="3952875"/>
              <a:ext cx="16002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688" name="Line 8"/>
            <p:cNvSpPr>
              <a:spLocks noChangeShapeType="1"/>
            </p:cNvSpPr>
            <p:nvPr/>
          </p:nvSpPr>
          <p:spPr bwMode="auto">
            <a:xfrm flipV="1">
              <a:off x="7924800" y="3952875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689" name="Arc 9"/>
            <p:cNvSpPr>
              <a:spLocks/>
            </p:cNvSpPr>
            <p:nvPr/>
          </p:nvSpPr>
          <p:spPr bwMode="auto">
            <a:xfrm>
              <a:off x="6705600" y="4714875"/>
              <a:ext cx="152400" cy="228600"/>
            </a:xfrm>
            <a:custGeom>
              <a:avLst/>
              <a:gdLst>
                <a:gd name="T0" fmla="*/ 0 w 21600"/>
                <a:gd name="T1" fmla="*/ 0 h 21600"/>
                <a:gd name="T2" fmla="*/ 53527701 w 21600"/>
                <a:gd name="T3" fmla="*/ 270983951 h 21600"/>
                <a:gd name="T4" fmla="*/ 0 w 21600"/>
                <a:gd name="T5" fmla="*/ 270983951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690" name="Text Box 10"/>
            <p:cNvSpPr txBox="1">
              <a:spLocks noChangeArrowheads="1"/>
            </p:cNvSpPr>
            <p:nvPr/>
          </p:nvSpPr>
          <p:spPr bwMode="auto">
            <a:xfrm>
              <a:off x="6934200" y="4638675"/>
              <a:ext cx="4572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>
                  <a:latin typeface="Arial" charset="0"/>
                </a:rPr>
                <a:t>0.6</a:t>
              </a:r>
            </a:p>
          </p:txBody>
        </p:sp>
        <p:sp>
          <p:nvSpPr>
            <p:cNvPr id="199691" name="Text Box 11"/>
            <p:cNvSpPr txBox="1">
              <a:spLocks noChangeArrowheads="1"/>
            </p:cNvSpPr>
            <p:nvPr/>
          </p:nvSpPr>
          <p:spPr bwMode="auto">
            <a:xfrm>
              <a:off x="7924800" y="4181475"/>
              <a:ext cx="533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Arial" charset="0"/>
                </a:rPr>
                <a:t>a</a:t>
              </a:r>
            </a:p>
          </p:txBody>
        </p:sp>
        <p:sp>
          <p:nvSpPr>
            <p:cNvPr id="199692" name="Text Box 12"/>
            <p:cNvSpPr txBox="1">
              <a:spLocks noChangeArrowheads="1"/>
            </p:cNvSpPr>
            <p:nvPr/>
          </p:nvSpPr>
          <p:spPr bwMode="auto">
            <a:xfrm>
              <a:off x="7010400" y="4029075"/>
              <a:ext cx="3048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Arial" charset="0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741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57A27CE-3778-4FB8-A7BC-A0C797838793}" type="slidenum">
              <a:rPr lang="ar-SA" smtClean="0"/>
              <a:pPr/>
              <a:t>51</a:t>
            </a:fld>
            <a:endParaRPr lang="en-US"/>
          </a:p>
        </p:txBody>
      </p:sp>
      <p:sp>
        <p:nvSpPr>
          <p:cNvPr id="174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pPr eaLnBrk="1" hangingPunct="1"/>
            <a:r>
              <a:rPr lang="en-US"/>
              <a:t>Taylor Series</a:t>
            </a:r>
          </a:p>
        </p:txBody>
      </p:sp>
      <p:sp>
        <p:nvSpPr>
          <p:cNvPr id="174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828800"/>
            <a:ext cx="7848600" cy="44196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graphicFrame>
        <p:nvGraphicFramePr>
          <p:cNvPr id="1741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654421696"/>
              </p:ext>
            </p:extLst>
          </p:nvPr>
        </p:nvGraphicFramePr>
        <p:xfrm>
          <a:off x="874713" y="2540085"/>
          <a:ext cx="7392987" cy="374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87720" imgH="2019240" progId="Equation.3">
                  <p:embed/>
                </p:oleObj>
              </mc:Choice>
              <mc:Fallback>
                <p:oleObj name="Equation" r:id="rId3" imgW="3987720" imgH="2019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2540085"/>
                        <a:ext cx="7392987" cy="3743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62000" y="1800225"/>
            <a:ext cx="7848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000" kern="0" dirty="0"/>
              <a:t>Taylor  series predicts </a:t>
            </a:r>
            <a:r>
              <a:rPr lang="en-US" sz="2000" kern="0" dirty="0" err="1"/>
              <a:t>func</a:t>
            </a:r>
            <a:r>
              <a:rPr lang="en-US" sz="2000" kern="0" dirty="0"/>
              <a:t>. value at one point </a:t>
            </a:r>
            <a:r>
              <a:rPr lang="en-US" sz="2000" i="1" kern="0" dirty="0"/>
              <a:t>x</a:t>
            </a:r>
            <a:r>
              <a:rPr lang="en-US" sz="2000" kern="0" dirty="0"/>
              <a:t> in terms of the </a:t>
            </a:r>
            <a:r>
              <a:rPr lang="en-US" sz="2000" kern="0" dirty="0" err="1"/>
              <a:t>func</a:t>
            </a:r>
            <a:r>
              <a:rPr lang="en-US" sz="2000" kern="0" dirty="0"/>
              <a:t>. value &amp; its derivatives at another point </a:t>
            </a:r>
            <a:r>
              <a:rPr lang="en-US" sz="2000" i="1" kern="0" dirty="0"/>
              <a:t>x</a:t>
            </a:r>
            <a:r>
              <a:rPr lang="en-US" sz="2000" kern="0" baseline="-25000" dirty="0"/>
              <a:t>0</a:t>
            </a:r>
            <a:r>
              <a:rPr lang="en-US" sz="2000" kern="0" dirty="0"/>
              <a:t>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447800" y="3581400"/>
            <a:ext cx="6305501" cy="990600"/>
            <a:chOff x="1447800" y="3581400"/>
            <a:chExt cx="6305501" cy="990600"/>
          </a:xfrm>
        </p:grpSpPr>
        <p:sp>
          <p:nvSpPr>
            <p:cNvPr id="3" name="TextBox 2"/>
            <p:cNvSpPr txBox="1"/>
            <p:nvPr/>
          </p:nvSpPr>
          <p:spPr>
            <a:xfrm>
              <a:off x="5867400" y="4264223"/>
              <a:ext cx="1885901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zero-order approx.</a:t>
              </a:r>
            </a:p>
          </p:txBody>
        </p:sp>
        <p:cxnSp>
          <p:nvCxnSpPr>
            <p:cNvPr id="5" name="Straight Arrow Connector 4"/>
            <p:cNvCxnSpPr>
              <a:stCxn id="3" idx="1"/>
            </p:cNvCxnSpPr>
            <p:nvPr/>
          </p:nvCxnSpPr>
          <p:spPr>
            <a:xfrm flipH="1" flipV="1">
              <a:off x="1447800" y="3581400"/>
              <a:ext cx="4419600" cy="8367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2895600" y="3581400"/>
            <a:ext cx="5091409" cy="612577"/>
            <a:chOff x="2895600" y="3581400"/>
            <a:chExt cx="5091409" cy="612577"/>
          </a:xfrm>
        </p:grpSpPr>
        <p:sp>
          <p:nvSpPr>
            <p:cNvPr id="10" name="TextBox 9"/>
            <p:cNvSpPr txBox="1"/>
            <p:nvPr/>
          </p:nvSpPr>
          <p:spPr>
            <a:xfrm>
              <a:off x="6267499" y="3886200"/>
              <a:ext cx="1719510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</a:t>
              </a:r>
              <a:r>
                <a:rPr lang="en-US" sz="1400" baseline="30000" dirty="0"/>
                <a:t>st</a:t>
              </a:r>
              <a:r>
                <a:rPr lang="en-US" sz="1400" dirty="0"/>
                <a:t>-order approx.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 flipV="1">
              <a:off x="2895600" y="3581400"/>
              <a:ext cx="3385194" cy="4502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843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7E5EEB1-9B83-4B05-8DEF-E94C181F3684}" type="slidenum">
              <a:rPr lang="ar-SA" smtClean="0"/>
              <a:pPr/>
              <a:t>52</a:t>
            </a:fld>
            <a:endParaRPr lang="en-US"/>
          </a:p>
        </p:txBody>
      </p:sp>
      <p:sp>
        <p:nvSpPr>
          <p:cNvPr id="184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Taylor Series – E</a:t>
            </a:r>
            <a:r>
              <a:rPr lang="en-US" sz="3600"/>
              <a:t>xample 1</a:t>
            </a:r>
          </a:p>
        </p:txBody>
      </p:sp>
      <p:sp>
        <p:nvSpPr>
          <p:cNvPr id="184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828800"/>
            <a:ext cx="7624763" cy="44196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graphicFrame>
        <p:nvGraphicFramePr>
          <p:cNvPr id="1843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92175" y="2400300"/>
          <a:ext cx="5376863" cy="375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280" imgH="1701720" progId="Equation.3">
                  <p:embed/>
                </p:oleObj>
              </mc:Choice>
              <mc:Fallback>
                <p:oleObj name="Equation" r:id="rId3" imgW="2438280" imgH="1701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2400300"/>
                        <a:ext cx="5376863" cy="375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588047"/>
              </p:ext>
            </p:extLst>
          </p:nvPr>
        </p:nvGraphicFramePr>
        <p:xfrm>
          <a:off x="766763" y="1892300"/>
          <a:ext cx="75152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33560" imgH="241200" progId="Equation.DSMT4">
                  <p:embed/>
                </p:oleObj>
              </mc:Choice>
              <mc:Fallback>
                <p:oleObj name="Equation" r:id="rId5" imgW="373356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1892300"/>
                        <a:ext cx="751522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6144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D18B2C7-1FCC-4F7D-937E-DED3E2BF8334}" type="slidenum">
              <a:rPr lang="ar-SA" smtClean="0"/>
              <a:pPr/>
              <a:t>53</a:t>
            </a:fld>
            <a:endParaRPr lang="en-US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Taylor Series</a:t>
            </a:r>
            <a:br>
              <a:rPr lang="en-US"/>
            </a:br>
            <a:r>
              <a:rPr lang="en-US" sz="3600"/>
              <a:t>Example 1</a:t>
            </a:r>
          </a:p>
        </p:txBody>
      </p:sp>
      <p:pic>
        <p:nvPicPr>
          <p:cNvPr id="6144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04800"/>
            <a:ext cx="8382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1946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69A68E-F7E9-4843-9448-5B19A3E31822}" type="slidenum">
              <a:rPr lang="ar-SA" smtClean="0"/>
              <a:pPr/>
              <a:t>54</a:t>
            </a:fld>
            <a:endParaRPr lang="en-US"/>
          </a:p>
        </p:txBody>
      </p:sp>
      <p:sp>
        <p:nvSpPr>
          <p:cNvPr id="194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Taylor Series – </a:t>
            </a:r>
            <a:r>
              <a:rPr lang="en-US" sz="3600"/>
              <a:t>Example 2</a:t>
            </a:r>
          </a:p>
        </p:txBody>
      </p:sp>
      <p:sp>
        <p:nvSpPr>
          <p:cNvPr id="194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828800"/>
            <a:ext cx="7624763" cy="44196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graphicFrame>
        <p:nvGraphicFramePr>
          <p:cNvPr id="1945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38200" y="2644775"/>
          <a:ext cx="7199313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27120" imgH="1650960" progId="Equation.3">
                  <p:embed/>
                </p:oleObj>
              </mc:Choice>
              <mc:Fallback>
                <p:oleObj name="Equation" r:id="rId3" imgW="3327120" imgH="1650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644775"/>
                        <a:ext cx="7199313" cy="357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93465"/>
              </p:ext>
            </p:extLst>
          </p:nvPr>
        </p:nvGraphicFramePr>
        <p:xfrm>
          <a:off x="936625" y="1943100"/>
          <a:ext cx="72691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20960" imgH="228600" progId="Equation.DSMT4">
                  <p:embed/>
                </p:oleObj>
              </mc:Choice>
              <mc:Fallback>
                <p:oleObj name="Equation" r:id="rId5" imgW="372096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1943100"/>
                        <a:ext cx="7269163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624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BA6369-4B10-46E6-AE1D-E1AD77278AC7}" type="slidenum">
              <a:rPr lang="ar-SA" smtClean="0"/>
              <a:pPr/>
              <a:t>55</a:t>
            </a:fld>
            <a:endParaRPr lang="en-US"/>
          </a:p>
        </p:txBody>
      </p:sp>
      <p:pic>
        <p:nvPicPr>
          <p:cNvPr id="6246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57200" y="190500"/>
            <a:ext cx="8077200" cy="6057900"/>
          </a:xfr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6349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653D0A-1893-40A1-89ED-CDFB7D4EA3EA}" type="slidenum">
              <a:rPr lang="ar-SA" smtClean="0"/>
              <a:pPr/>
              <a:t>56</a:t>
            </a:fld>
            <a:endParaRPr lang="en-US"/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Convergence of Taylor Series</a:t>
            </a:r>
            <a:br>
              <a:rPr lang="en-US"/>
            </a:br>
            <a:r>
              <a:rPr lang="en-US" sz="2500" b="1"/>
              <a:t>(Observations, Example 1)</a:t>
            </a:r>
            <a:endParaRPr lang="en-US" sz="1900" b="1"/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828800"/>
            <a:ext cx="7624763" cy="44196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endParaRPr lang="en-US" sz="2400"/>
          </a:p>
          <a:p>
            <a:pPr eaLnBrk="1" hangingPunct="1"/>
            <a:r>
              <a:rPr lang="en-US" sz="2400"/>
              <a:t>The Taylor series converges fast (few terms are needed) when </a:t>
            </a:r>
            <a:r>
              <a:rPr lang="en-US" sz="2400" b="1" i="1"/>
              <a:t>x</a:t>
            </a:r>
            <a:r>
              <a:rPr lang="en-US" sz="2400"/>
              <a:t> is near the point of expansion. If </a:t>
            </a:r>
            <a:r>
              <a:rPr lang="en-US" sz="2400" b="1" i="1"/>
              <a:t>|x-c| </a:t>
            </a:r>
            <a:r>
              <a:rPr lang="en-US" sz="2400"/>
              <a:t>is large then more terms are needed to get a good approximation.</a:t>
            </a:r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048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3ABC5F-F7E6-4B0C-AC8E-56E85E3DC2C7}" type="slidenum">
              <a:rPr lang="ar-SA" smtClean="0"/>
              <a:pPr/>
              <a:t>57</a:t>
            </a:fld>
            <a:endParaRPr lang="en-US"/>
          </a:p>
        </p:txBody>
      </p:sp>
      <p:sp>
        <p:nvSpPr>
          <p:cNvPr id="204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Taylor Series – </a:t>
            </a:r>
            <a:r>
              <a:rPr lang="en-US" sz="3600"/>
              <a:t>Example 3</a:t>
            </a:r>
          </a:p>
        </p:txBody>
      </p:sp>
      <p:graphicFrame>
        <p:nvGraphicFramePr>
          <p:cNvPr id="20482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68975220"/>
              </p:ext>
            </p:extLst>
          </p:nvPr>
        </p:nvGraphicFramePr>
        <p:xfrm>
          <a:off x="946150" y="1574800"/>
          <a:ext cx="6445250" cy="440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09880" imgH="2666880" progId="Equation.DSMT4">
                  <p:embed/>
                </p:oleObj>
              </mc:Choice>
              <mc:Fallback>
                <p:oleObj name="Equation" r:id="rId3" imgW="3809880" imgH="2666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1574800"/>
                        <a:ext cx="6445250" cy="4408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6451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7FB664-B88F-4E77-94CF-800A8AD7A6BF}" type="slidenum">
              <a:rPr lang="ar-SA" smtClean="0"/>
              <a:pPr/>
              <a:t>58</a:t>
            </a:fld>
            <a:endParaRPr lang="en-US"/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Example 3 – Remarks</a:t>
            </a:r>
          </a:p>
        </p:txBody>
      </p:sp>
      <p:sp>
        <p:nvSpPr>
          <p:cNvPr id="645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828800"/>
            <a:ext cx="7624763" cy="6858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sz="2400"/>
              <a:t>Can we apply Taylor series for x&gt;1??</a:t>
            </a:r>
          </a:p>
        </p:txBody>
      </p:sp>
      <p:sp>
        <p:nvSpPr>
          <p:cNvPr id="207876" name="Rectangle 4"/>
          <p:cNvSpPr>
            <a:spLocks noChangeArrowheads="1"/>
          </p:cNvSpPr>
          <p:nvPr/>
        </p:nvSpPr>
        <p:spPr bwMode="auto">
          <a:xfrm>
            <a:off x="762000" y="2743200"/>
            <a:ext cx="7624763" cy="1219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400"/>
              <a:t>How many terms are needed to get a good approximation???</a:t>
            </a:r>
          </a:p>
        </p:txBody>
      </p:sp>
      <p:sp>
        <p:nvSpPr>
          <p:cNvPr id="207877" name="Rectangle 5"/>
          <p:cNvSpPr>
            <a:spLocks noChangeArrowheads="1"/>
          </p:cNvSpPr>
          <p:nvPr/>
        </p:nvSpPr>
        <p:spPr bwMode="auto">
          <a:xfrm>
            <a:off x="762000" y="4343400"/>
            <a:ext cx="7620000" cy="1371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>
                <a:solidFill>
                  <a:srgbClr val="FF0066"/>
                </a:solidFill>
              </a:rPr>
              <a:t>	These questions will be answered using Taylor’s Theorem.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6" grpId="0" animBg="1"/>
      <p:bldP spid="20787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150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DB06999-2028-4355-A538-EB633A152607}" type="slidenum">
              <a:rPr lang="ar-SA" smtClean="0"/>
              <a:pPr/>
              <a:t>59</a:t>
            </a:fld>
            <a:endParaRPr lang="en-US"/>
          </a:p>
        </p:txBody>
      </p:sp>
      <p:sp>
        <p:nvSpPr>
          <p:cNvPr id="215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Taylor’s Theorem</a:t>
            </a:r>
          </a:p>
        </p:txBody>
      </p:sp>
      <p:graphicFrame>
        <p:nvGraphicFramePr>
          <p:cNvPr id="21506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3400" y="1628775"/>
          <a:ext cx="7226300" cy="430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9000" imgH="2044440" progId="Equation.DSMT4">
                  <p:embed/>
                </p:oleObj>
              </mc:Choice>
              <mc:Fallback>
                <p:oleObj name="Equation" r:id="rId3" imgW="3429000" imgH="20444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28775"/>
                        <a:ext cx="7226300" cy="430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0" name="Oval 4"/>
          <p:cNvSpPr>
            <a:spLocks noChangeArrowheads="1"/>
          </p:cNvSpPr>
          <p:nvPr/>
        </p:nvSpPr>
        <p:spPr bwMode="auto">
          <a:xfrm>
            <a:off x="1524000" y="3048000"/>
            <a:ext cx="2590800" cy="1981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8901" name="Line 5"/>
          <p:cNvSpPr>
            <a:spLocks noChangeShapeType="1"/>
          </p:cNvSpPr>
          <p:nvPr/>
        </p:nvSpPr>
        <p:spPr bwMode="auto">
          <a:xfrm flipV="1">
            <a:off x="3733800" y="2971800"/>
            <a:ext cx="13716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8902" name="Text Box 6"/>
          <p:cNvSpPr txBox="1">
            <a:spLocks noChangeArrowheads="1"/>
          </p:cNvSpPr>
          <p:nvPr/>
        </p:nvSpPr>
        <p:spPr bwMode="auto">
          <a:xfrm>
            <a:off x="5105400" y="2590800"/>
            <a:ext cx="3429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solidFill>
                  <a:srgbClr val="FF0066"/>
                </a:solidFill>
                <a:latin typeface="Arial" charset="0"/>
              </a:rPr>
              <a:t>(n+1) terms</a:t>
            </a:r>
            <a:r>
              <a:rPr lang="en-US">
                <a:latin typeface="Arial" charset="0"/>
              </a:rPr>
              <a:t> </a:t>
            </a:r>
            <a:r>
              <a:rPr lang="en-US" sz="2400">
                <a:solidFill>
                  <a:srgbClr val="FF0066"/>
                </a:solidFill>
                <a:latin typeface="Arial" charset="0"/>
              </a:rPr>
              <a:t>Truncated Taylor Series</a:t>
            </a:r>
          </a:p>
        </p:txBody>
      </p:sp>
      <p:sp>
        <p:nvSpPr>
          <p:cNvPr id="208903" name="Oval 7"/>
          <p:cNvSpPr>
            <a:spLocks noChangeArrowheads="1"/>
          </p:cNvSpPr>
          <p:nvPr/>
        </p:nvSpPr>
        <p:spPr bwMode="auto">
          <a:xfrm>
            <a:off x="4419600" y="3657600"/>
            <a:ext cx="762000" cy="7620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8904" name="Line 8"/>
          <p:cNvSpPr>
            <a:spLocks noChangeShapeType="1"/>
          </p:cNvSpPr>
          <p:nvPr/>
        </p:nvSpPr>
        <p:spPr bwMode="auto">
          <a:xfrm>
            <a:off x="5181600" y="41148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8905" name="Text Box 9"/>
          <p:cNvSpPr txBox="1">
            <a:spLocks noChangeArrowheads="1"/>
          </p:cNvSpPr>
          <p:nvPr/>
        </p:nvSpPr>
        <p:spPr bwMode="auto">
          <a:xfrm>
            <a:off x="6019800" y="4267200"/>
            <a:ext cx="2667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400" dirty="0">
                <a:solidFill>
                  <a:srgbClr val="0000FF"/>
                </a:solidFill>
                <a:latin typeface="Arial" charset="0"/>
              </a:rPr>
              <a:t>Remainder</a:t>
            </a:r>
          </a:p>
          <a:p>
            <a:pPr>
              <a:spcBef>
                <a:spcPts val="0"/>
              </a:spcBef>
            </a:pPr>
            <a:r>
              <a:rPr lang="en-US" sz="2400" dirty="0">
                <a:solidFill>
                  <a:srgbClr val="0000FF"/>
                </a:solidFill>
                <a:latin typeface="Arial" charset="0"/>
              </a:rPr>
              <a:t>( or approx. error)</a:t>
            </a:r>
          </a:p>
        </p:txBody>
      </p:sp>
      <p:sp>
        <p:nvSpPr>
          <p:cNvPr id="21517" name="Line 10"/>
          <p:cNvSpPr>
            <a:spLocks noChangeShapeType="1"/>
          </p:cNvSpPr>
          <p:nvPr/>
        </p:nvSpPr>
        <p:spPr bwMode="auto">
          <a:xfrm>
            <a:off x="3124200" y="2014152"/>
            <a:ext cx="426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0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animBg="1"/>
      <p:bldP spid="208901" grpId="0" animBg="1"/>
      <p:bldP spid="208902" grpId="0"/>
      <p:bldP spid="208903" grpId="0" animBg="1"/>
      <p:bldP spid="208904" grpId="0" animBg="1"/>
      <p:bldP spid="20890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253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3D4935-FB5A-405E-BE75-289E532063CB}" type="slidenum">
              <a:rPr lang="ar-SA" smtClean="0"/>
              <a:pPr/>
              <a:t>60</a:t>
            </a:fld>
            <a:endParaRPr lang="en-US"/>
          </a:p>
        </p:txBody>
      </p:sp>
      <p:sp>
        <p:nvSpPr>
          <p:cNvPr id="225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Taylor’s Theorem</a:t>
            </a:r>
            <a:endParaRPr lang="en-US" sz="3600"/>
          </a:p>
        </p:txBody>
      </p:sp>
      <p:graphicFrame>
        <p:nvGraphicFramePr>
          <p:cNvPr id="22530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515938" y="1935163"/>
          <a:ext cx="8491537" cy="350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95400" imgH="1523880" progId="Equation.DSMT4">
                  <p:embed/>
                </p:oleObj>
              </mc:Choice>
              <mc:Fallback>
                <p:oleObj name="Equation" r:id="rId3" imgW="3695400" imgH="1523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1935163"/>
                        <a:ext cx="8491537" cy="350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ED9A24-904D-46EC-BB86-621B2CA02404}" type="slidenum">
              <a:rPr lang="ar-SA" smtClean="0"/>
              <a:pPr/>
              <a:t>61</a:t>
            </a:fld>
            <a:endParaRPr lang="en-US"/>
          </a:p>
        </p:txBody>
      </p:sp>
      <p:sp>
        <p:nvSpPr>
          <p:cNvPr id="235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Error Term</a:t>
            </a:r>
          </a:p>
        </p:txBody>
      </p:sp>
      <p:graphicFrame>
        <p:nvGraphicFramePr>
          <p:cNvPr id="23554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838200" y="2057400"/>
          <a:ext cx="7581900" cy="279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35160" imgH="1117440" progId="Equation.3">
                  <p:embed/>
                </p:oleObj>
              </mc:Choice>
              <mc:Fallback>
                <p:oleObj name="Equation" r:id="rId3" imgW="3035160" imgH="11174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057400"/>
                        <a:ext cx="7581900" cy="2792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3886200" y="3124200"/>
            <a:ext cx="1981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971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45255971"/>
              </p:ext>
            </p:extLst>
          </p:nvPr>
        </p:nvGraphicFramePr>
        <p:xfrm>
          <a:off x="990600" y="3451225"/>
          <a:ext cx="6705600" cy="268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82880" imgH="1155600" progId="Equation.DSMT4">
                  <p:embed/>
                </p:oleObj>
              </mc:Choice>
              <mc:Fallback>
                <p:oleObj name="Equation" r:id="rId3" imgW="2882880" imgH="1155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451225"/>
                        <a:ext cx="6705600" cy="2687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458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99A01F-1558-46B4-99CF-9E721AA17367}" type="slidenum">
              <a:rPr lang="ar-SA" smtClean="0"/>
              <a:pPr/>
              <a:t>62</a:t>
            </a:fld>
            <a:endParaRPr lang="en-US"/>
          </a:p>
        </p:txBody>
      </p:sp>
      <p:sp>
        <p:nvSpPr>
          <p:cNvPr id="245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Error Term – E</a:t>
            </a:r>
            <a:r>
              <a:rPr lang="en-US" sz="3600"/>
              <a:t>xample 4</a:t>
            </a:r>
          </a:p>
        </p:txBody>
      </p:sp>
      <p:graphicFrame>
        <p:nvGraphicFramePr>
          <p:cNvPr id="2457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472243"/>
              </p:ext>
            </p:extLst>
          </p:nvPr>
        </p:nvGraphicFramePr>
        <p:xfrm>
          <a:off x="641350" y="1662113"/>
          <a:ext cx="79390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40080" imgH="698400" progId="Equation.DSMT4">
                  <p:embed/>
                </p:oleObj>
              </mc:Choice>
              <mc:Fallback>
                <p:oleObj name="Equation" r:id="rId5" imgW="3340080" imgH="69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1662113"/>
                        <a:ext cx="7939088" cy="166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207916"/>
              </p:ext>
            </p:extLst>
          </p:nvPr>
        </p:nvGraphicFramePr>
        <p:xfrm>
          <a:off x="5880100" y="4489450"/>
          <a:ext cx="25781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120" imgH="457200" progId="Equation.DSMT4">
                  <p:embed/>
                </p:oleObj>
              </mc:Choice>
              <mc:Fallback>
                <p:oleObj name="Equation" r:id="rId7" imgW="2184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4489450"/>
                        <a:ext cx="2578100" cy="5397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/>
          <p:nvPr/>
        </p:nvCxnSpPr>
        <p:spPr>
          <a:xfrm flipH="1" flipV="1">
            <a:off x="4572000" y="3962400"/>
            <a:ext cx="1295400" cy="685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A65ED4-7523-4983-ADE0-F442F4C5C8A0}" type="slidenum">
              <a:rPr lang="ar-SA" smtClean="0"/>
              <a:pPr/>
              <a:t>63</a:t>
            </a:fld>
            <a:endParaRPr lang="en-US"/>
          </a:p>
        </p:txBody>
      </p:sp>
      <p:sp>
        <p:nvSpPr>
          <p:cNvPr id="256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Alternative form of </a:t>
            </a:r>
            <a:r>
              <a:rPr lang="en-US" sz="4000">
                <a:solidFill>
                  <a:srgbClr val="FF0066"/>
                </a:solidFill>
              </a:rPr>
              <a:t>Taylor’s Theorem</a:t>
            </a:r>
            <a:endParaRPr lang="en-US" sz="3300"/>
          </a:p>
        </p:txBody>
      </p:sp>
      <p:graphicFrame>
        <p:nvGraphicFramePr>
          <p:cNvPr id="2560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501853"/>
              </p:ext>
            </p:extLst>
          </p:nvPr>
        </p:nvGraphicFramePr>
        <p:xfrm>
          <a:off x="519113" y="1676400"/>
          <a:ext cx="856615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40080" imgH="1574640" progId="Equation.DSMT4">
                  <p:embed/>
                </p:oleObj>
              </mc:Choice>
              <mc:Fallback>
                <p:oleObj name="Equation" r:id="rId3" imgW="3340080" imgH="1574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1676400"/>
                        <a:ext cx="8566150" cy="403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676CFD-4465-4A50-8116-E534301C84B5}" type="slidenum">
              <a:rPr lang="ar-SA" smtClean="0"/>
              <a:pPr/>
              <a:t>64</a:t>
            </a:fld>
            <a:endParaRPr lang="en-US"/>
          </a:p>
        </p:txBody>
      </p:sp>
      <p:sp>
        <p:nvSpPr>
          <p:cNvPr id="266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800">
                <a:solidFill>
                  <a:srgbClr val="FF0066"/>
                </a:solidFill>
              </a:rPr>
              <a:t>Taylor’s  Theorem – </a:t>
            </a:r>
            <a:r>
              <a:rPr lang="en-US" sz="3200">
                <a:solidFill>
                  <a:srgbClr val="0000FF"/>
                </a:solidFill>
              </a:rPr>
              <a:t>Alternative forms</a:t>
            </a:r>
            <a:endParaRPr lang="en-US">
              <a:solidFill>
                <a:srgbClr val="0000FF"/>
              </a:solidFill>
            </a:endParaRPr>
          </a:p>
        </p:txBody>
      </p:sp>
      <p:graphicFrame>
        <p:nvGraphicFramePr>
          <p:cNvPr id="26626" name="Object 3"/>
          <p:cNvGraphicFramePr>
            <a:graphicFrameLocks noChangeAspect="1"/>
          </p:cNvGraphicFramePr>
          <p:nvPr/>
        </p:nvGraphicFramePr>
        <p:xfrm>
          <a:off x="1522413" y="1906588"/>
          <a:ext cx="5792787" cy="422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19160" imgH="2057400" progId="Equation.3">
                  <p:embed/>
                </p:oleObj>
              </mc:Choice>
              <mc:Fallback>
                <p:oleObj name="Equation" r:id="rId3" imgW="2819160" imgH="2057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413" y="1906588"/>
                        <a:ext cx="5792787" cy="422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4"/>
          <p:cNvSpPr>
            <a:spLocks noChangeArrowheads="1"/>
          </p:cNvSpPr>
          <p:nvPr/>
        </p:nvSpPr>
        <p:spPr bwMode="auto">
          <a:xfrm>
            <a:off x="914400" y="1828800"/>
            <a:ext cx="7239000" cy="1676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Rectangle 5"/>
          <p:cNvSpPr>
            <a:spLocks noChangeArrowheads="1"/>
          </p:cNvSpPr>
          <p:nvPr/>
        </p:nvSpPr>
        <p:spPr bwMode="auto">
          <a:xfrm>
            <a:off x="914400" y="4572000"/>
            <a:ext cx="7239000" cy="1676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AutoShape 6"/>
          <p:cNvSpPr>
            <a:spLocks noChangeArrowheads="1"/>
          </p:cNvSpPr>
          <p:nvPr/>
        </p:nvSpPr>
        <p:spPr bwMode="auto">
          <a:xfrm>
            <a:off x="1828800" y="3581400"/>
            <a:ext cx="4724400" cy="990600"/>
          </a:xfrm>
          <a:prstGeom prst="downArrow">
            <a:avLst>
              <a:gd name="adj1" fmla="val 67444"/>
              <a:gd name="adj2" fmla="val 34134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964438-D54B-46E3-B33D-49378A4E9ABD}" type="slidenum">
              <a:rPr lang="ar-SA" smtClean="0"/>
              <a:pPr/>
              <a:t>65</a:t>
            </a:fld>
            <a:endParaRPr lang="en-US"/>
          </a:p>
        </p:txBody>
      </p:sp>
      <p:sp>
        <p:nvSpPr>
          <p:cNvPr id="276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Mean Value Theorem</a:t>
            </a:r>
            <a:endParaRPr lang="en-US" sz="2900"/>
          </a:p>
        </p:txBody>
      </p:sp>
      <p:graphicFrame>
        <p:nvGraphicFramePr>
          <p:cNvPr id="276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12014"/>
              </p:ext>
            </p:extLst>
          </p:nvPr>
        </p:nvGraphicFramePr>
        <p:xfrm>
          <a:off x="611188" y="1752600"/>
          <a:ext cx="8228012" cy="414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79760" imgH="1752480" progId="Equation.DSMT4">
                  <p:embed/>
                </p:oleObj>
              </mc:Choice>
              <mc:Fallback>
                <p:oleObj name="Equation" r:id="rId3" imgW="3479760" imgH="1752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752600"/>
                        <a:ext cx="8228012" cy="414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752DA2-2A9F-4D7C-9A83-2366507E5C25}" type="slidenum">
              <a:rPr lang="ar-SA" smtClean="0"/>
              <a:pPr/>
              <a:t>66</a:t>
            </a:fld>
            <a:endParaRPr lang="en-US"/>
          </a:p>
        </p:txBody>
      </p:sp>
      <p:sp>
        <p:nvSpPr>
          <p:cNvPr id="286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Alternating Series Theorem</a:t>
            </a:r>
            <a:endParaRPr lang="en-US" sz="3300"/>
          </a:p>
        </p:txBody>
      </p:sp>
      <p:graphicFrame>
        <p:nvGraphicFramePr>
          <p:cNvPr id="2867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179054"/>
              </p:ext>
            </p:extLst>
          </p:nvPr>
        </p:nvGraphicFramePr>
        <p:xfrm>
          <a:off x="701675" y="1636713"/>
          <a:ext cx="8166100" cy="434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70200" imgH="1955520" progId="Equation.DSMT4">
                  <p:embed/>
                </p:oleObj>
              </mc:Choice>
              <mc:Fallback>
                <p:oleObj name="Equation" r:id="rId3" imgW="3670200" imgH="19555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1636713"/>
                        <a:ext cx="8166100" cy="434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ctangle 4"/>
          <p:cNvSpPr>
            <a:spLocks noChangeArrowheads="1"/>
          </p:cNvSpPr>
          <p:nvPr/>
        </p:nvSpPr>
        <p:spPr bwMode="auto">
          <a:xfrm>
            <a:off x="1219200" y="2667000"/>
            <a:ext cx="3352800" cy="18288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Rectangle 5"/>
          <p:cNvSpPr>
            <a:spLocks noChangeArrowheads="1"/>
          </p:cNvSpPr>
          <p:nvPr/>
        </p:nvSpPr>
        <p:spPr bwMode="auto">
          <a:xfrm>
            <a:off x="5562600" y="2743200"/>
            <a:ext cx="3200400" cy="17526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EEF6B2-A94B-4D0B-AF7D-B1F0C7649AD2}" type="slidenum">
              <a:rPr lang="ar-SA" smtClean="0"/>
              <a:pPr/>
              <a:t>67</a:t>
            </a:fld>
            <a:endParaRPr lang="en-US"/>
          </a:p>
        </p:txBody>
      </p:sp>
      <p:sp>
        <p:nvSpPr>
          <p:cNvPr id="297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Alternating Series – Example 5</a:t>
            </a:r>
            <a:endParaRPr lang="en-US" sz="3300"/>
          </a:p>
        </p:txBody>
      </p:sp>
      <p:graphicFrame>
        <p:nvGraphicFramePr>
          <p:cNvPr id="29698" name="Object 3"/>
          <p:cNvGraphicFramePr>
            <a:graphicFrameLocks noChangeAspect="1"/>
          </p:cNvGraphicFramePr>
          <p:nvPr/>
        </p:nvGraphicFramePr>
        <p:xfrm>
          <a:off x="779463" y="1524000"/>
          <a:ext cx="7658100" cy="448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55720" imgH="2082600" progId="Equation.3">
                  <p:embed/>
                </p:oleObj>
              </mc:Choice>
              <mc:Fallback>
                <p:oleObj name="Equation" r:id="rId3" imgW="3555720" imgH="20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1524000"/>
                        <a:ext cx="7658100" cy="448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8761A7-95D2-4F39-94A4-42EE18B4CBA6}" type="slidenum">
              <a:rPr lang="ar-SA" smtClean="0"/>
              <a:pPr/>
              <a:t>68</a:t>
            </a:fld>
            <a:endParaRPr lang="en-US"/>
          </a:p>
        </p:txBody>
      </p:sp>
      <p:sp>
        <p:nvSpPr>
          <p:cNvPr id="307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6</a:t>
            </a:r>
            <a:endParaRPr lang="en-US" sz="3300"/>
          </a:p>
        </p:txBody>
      </p:sp>
      <p:graphicFrame>
        <p:nvGraphicFramePr>
          <p:cNvPr id="307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105253"/>
              </p:ext>
            </p:extLst>
          </p:nvPr>
        </p:nvGraphicFramePr>
        <p:xfrm>
          <a:off x="742950" y="1785938"/>
          <a:ext cx="7629525" cy="248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43120" imgH="1155600" progId="Equation.DSMT4">
                  <p:embed/>
                </p:oleObj>
              </mc:Choice>
              <mc:Fallback>
                <p:oleObj name="Equation" r:id="rId3" imgW="3543120" imgH="1155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1785938"/>
                        <a:ext cx="7629525" cy="2484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3175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96EDA0E-EB2E-4F88-87B8-A113E6BD337F}" type="slidenum">
              <a:rPr lang="ar-SA" smtClean="0"/>
              <a:pPr/>
              <a:t>69</a:t>
            </a:fld>
            <a:endParaRPr lang="en-US"/>
          </a:p>
        </p:txBody>
      </p:sp>
      <p:sp>
        <p:nvSpPr>
          <p:cNvPr id="317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6 – Taylor Series</a:t>
            </a:r>
          </a:p>
        </p:txBody>
      </p:sp>
      <p:sp>
        <p:nvSpPr>
          <p:cNvPr id="317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828800"/>
            <a:ext cx="7624763" cy="44196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graphicFrame>
        <p:nvGraphicFramePr>
          <p:cNvPr id="3174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843216598"/>
              </p:ext>
            </p:extLst>
          </p:nvPr>
        </p:nvGraphicFramePr>
        <p:xfrm>
          <a:off x="889000" y="2613025"/>
          <a:ext cx="7440613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76640" imgH="1854000" progId="Equation.DSMT4">
                  <p:embed/>
                </p:oleObj>
              </mc:Choice>
              <mc:Fallback>
                <p:oleObj name="Equation" r:id="rId3" imgW="4076640" imgH="18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2613025"/>
                        <a:ext cx="7440613" cy="338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787222"/>
              </p:ext>
            </p:extLst>
          </p:nvPr>
        </p:nvGraphicFramePr>
        <p:xfrm>
          <a:off x="876300" y="1854200"/>
          <a:ext cx="70294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92360" imgH="228600" progId="Equation.DSMT4">
                  <p:embed/>
                </p:oleObj>
              </mc:Choice>
              <mc:Fallback>
                <p:oleObj name="Equation" r:id="rId5" imgW="349236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854200"/>
                        <a:ext cx="7029450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3277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7711493-AAA7-453C-AB2A-D9C6D7985FA2}" type="slidenum">
              <a:rPr lang="ar-SA" smtClean="0"/>
              <a:pPr/>
              <a:t>70</a:t>
            </a:fld>
            <a:endParaRPr lang="en-US"/>
          </a:p>
        </p:txBody>
      </p:sp>
      <p:sp>
        <p:nvSpPr>
          <p:cNvPr id="327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6 – Error Term</a:t>
            </a:r>
          </a:p>
        </p:txBody>
      </p:sp>
      <p:sp>
        <p:nvSpPr>
          <p:cNvPr id="327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828800"/>
            <a:ext cx="7624763" cy="44196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graphicFrame>
        <p:nvGraphicFramePr>
          <p:cNvPr id="3277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643241950"/>
              </p:ext>
            </p:extLst>
          </p:nvPr>
        </p:nvGraphicFramePr>
        <p:xfrm>
          <a:off x="2551113" y="2103438"/>
          <a:ext cx="4194175" cy="395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22280" imgH="2095200" progId="Equation.DSMT4">
                  <p:embed/>
                </p:oleObj>
              </mc:Choice>
              <mc:Fallback>
                <p:oleObj name="Equation" r:id="rId3" imgW="2222280" imgH="2095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2103438"/>
                        <a:ext cx="4194175" cy="3954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655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ADA987-2536-48C1-8C53-406780FAA7C3}" type="slidenum">
              <a:rPr lang="ar-SA" smtClean="0"/>
              <a:pPr/>
              <a:t>71</a:t>
            </a:fld>
            <a:endParaRPr lang="en-US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Remark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  <a:p>
            <a:pPr eaLnBrk="1" hangingPunct="1"/>
            <a:r>
              <a:rPr lang="en-US"/>
              <a:t>In this course, all angles are assumed to be in radian unless you are told otherwise. 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665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EC8739-AF44-4AFD-BFAA-955EF90A5035}" type="slidenum">
              <a:rPr lang="ar-SA" smtClean="0"/>
              <a:pPr/>
              <a:t>72</a:t>
            </a:fld>
            <a:endParaRPr lang="en-US"/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Maclaurin Series</a:t>
            </a:r>
          </a:p>
        </p:txBody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509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/>
              <a:t> </a:t>
            </a:r>
          </a:p>
          <a:p>
            <a:pPr eaLnBrk="1" hangingPunct="1"/>
            <a:r>
              <a:rPr lang="en-US"/>
              <a:t>Find Maclaurin series expansion of </a:t>
            </a:r>
            <a:r>
              <a:rPr lang="en-US" i="1"/>
              <a:t>cos (x)</a:t>
            </a:r>
            <a:r>
              <a:rPr lang="en-US"/>
              <a:t>.</a:t>
            </a:r>
          </a:p>
        </p:txBody>
      </p:sp>
      <p:sp>
        <p:nvSpPr>
          <p:cNvPr id="66567" name="Rectangle 4"/>
          <p:cNvSpPr>
            <a:spLocks noChangeArrowheads="1"/>
          </p:cNvSpPr>
          <p:nvPr/>
        </p:nvSpPr>
        <p:spPr bwMode="auto">
          <a:xfrm>
            <a:off x="533400" y="3657600"/>
            <a:ext cx="8229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</a:pPr>
            <a:r>
              <a:rPr lang="en-US" sz="2800"/>
              <a:t>Maclaurin series is a special case of Taylor series with the center of expansion c = 0.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CISE301_Topic1</a:t>
            </a:r>
          </a:p>
        </p:txBody>
      </p:sp>
      <p:sp>
        <p:nvSpPr>
          <p:cNvPr id="3379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14D85C6-D04A-4C4F-A47F-F73A2ABF1689}" type="slidenum">
              <a:rPr lang="ar-SA" smtClean="0"/>
              <a:pPr/>
              <a:t>73</a:t>
            </a:fld>
            <a:endParaRPr lang="en-US"/>
          </a:p>
        </p:txBody>
      </p:sp>
      <p:sp>
        <p:nvSpPr>
          <p:cNvPr id="337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Maclaurin Series – E</a:t>
            </a:r>
            <a:r>
              <a:rPr lang="en-US" sz="3600"/>
              <a:t>xample 7</a:t>
            </a:r>
          </a:p>
        </p:txBody>
      </p:sp>
      <p:sp>
        <p:nvSpPr>
          <p:cNvPr id="338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76400"/>
            <a:ext cx="7624763" cy="4419600"/>
          </a:xfrm>
          <a:noFill/>
          <a:ln>
            <a:solidFill>
              <a:srgbClr val="FF0000"/>
            </a:solidFill>
          </a:ln>
        </p:spPr>
        <p:txBody>
          <a:bodyPr/>
          <a:lstStyle/>
          <a:p>
            <a:pPr eaLnBrk="1" hangingPunct="1"/>
            <a:endParaRPr lang="en-US" sz="2400"/>
          </a:p>
          <a:p>
            <a:pPr eaLnBrk="1" hangingPunct="1">
              <a:buFont typeface="Wingdings" pitchFamily="2" charset="2"/>
              <a:buNone/>
            </a:pPr>
            <a:endParaRPr lang="en-US" sz="2400"/>
          </a:p>
        </p:txBody>
      </p:sp>
      <p:graphicFrame>
        <p:nvGraphicFramePr>
          <p:cNvPr id="3379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38250" y="2419350"/>
          <a:ext cx="6399213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97000" imgH="1650960" progId="Equation.3">
                  <p:embed/>
                </p:oleObj>
              </mc:Choice>
              <mc:Fallback>
                <p:oleObj name="Equation" r:id="rId3" imgW="2997000" imgH="1650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2419350"/>
                        <a:ext cx="6399213" cy="3524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5"/>
          <p:cNvGraphicFramePr>
            <a:graphicFrameLocks noChangeAspect="1"/>
          </p:cNvGraphicFramePr>
          <p:nvPr/>
        </p:nvGraphicFramePr>
        <p:xfrm>
          <a:off x="887413" y="1828800"/>
          <a:ext cx="682148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90840" imgH="203040" progId="Equation.3">
                  <p:embed/>
                </p:oleObj>
              </mc:Choice>
              <mc:Fallback>
                <p:oleObj name="Equation" r:id="rId5" imgW="339084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1828800"/>
                        <a:ext cx="6821487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8480</TotalTime>
  <Words>2059</Words>
  <Application>Microsoft Office PowerPoint</Application>
  <PresentationFormat>On-screen Show (4:3)</PresentationFormat>
  <Paragraphs>552</Paragraphs>
  <Slides>73</Slides>
  <Notes>67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83" baseType="lpstr">
      <vt:lpstr>Arial</vt:lpstr>
      <vt:lpstr>Garamond</vt:lpstr>
      <vt:lpstr>Symbol</vt:lpstr>
      <vt:lpstr>Times New Roman</vt:lpstr>
      <vt:lpstr>Verdana</vt:lpstr>
      <vt:lpstr>Wingdings</vt:lpstr>
      <vt:lpstr>Level</vt:lpstr>
      <vt:lpstr>Default Design</vt:lpstr>
      <vt:lpstr>Equation</vt:lpstr>
      <vt:lpstr>Document</vt:lpstr>
      <vt:lpstr>PowerPoint Presentation</vt:lpstr>
      <vt:lpstr>Lecture 1 Introduction to Numerical Methods</vt:lpstr>
      <vt:lpstr>Numerical Methods</vt:lpstr>
      <vt:lpstr>What do we need?</vt:lpstr>
      <vt:lpstr>Outlines of the Course</vt:lpstr>
      <vt:lpstr>Solution of Nonlinear Equations</vt:lpstr>
      <vt:lpstr>Methods for Solving Nonlinear Equations</vt:lpstr>
      <vt:lpstr>Solution of Systems of Linear Equations</vt:lpstr>
      <vt:lpstr>Cramer’s Rule is Not Practical</vt:lpstr>
      <vt:lpstr>Methods for Solving Systems of Linear Equations</vt:lpstr>
      <vt:lpstr>Curve Fitting</vt:lpstr>
      <vt:lpstr>Interpolation</vt:lpstr>
      <vt:lpstr>Methods for Curve Fitting  </vt:lpstr>
      <vt:lpstr>Integration</vt:lpstr>
      <vt:lpstr>Methods for Numerical Integration</vt:lpstr>
      <vt:lpstr>Solution of Ordinary Differential Equations</vt:lpstr>
      <vt:lpstr>Solution of Partial Differential Equations</vt:lpstr>
      <vt:lpstr>Summary</vt:lpstr>
      <vt:lpstr>Lecture 2  Number Representation and Accuracy</vt:lpstr>
      <vt:lpstr>Representing Real Numbers</vt:lpstr>
      <vt:lpstr>Normalized Floating Point Representation</vt:lpstr>
      <vt:lpstr>Calculator Example</vt:lpstr>
      <vt:lpstr>Binary System</vt:lpstr>
      <vt:lpstr>7-Bit Representation (sign: 1 bit, mantissa: 3bits, exponent: 3 bits)</vt:lpstr>
      <vt:lpstr>Fact</vt:lpstr>
      <vt:lpstr>Representation</vt:lpstr>
      <vt:lpstr>Representation</vt:lpstr>
      <vt:lpstr>Remarks</vt:lpstr>
      <vt:lpstr>Significant Digits</vt:lpstr>
      <vt:lpstr>48.9</vt:lpstr>
      <vt:lpstr>Accuracy and Precision</vt:lpstr>
      <vt:lpstr>PowerPoint Presentation</vt:lpstr>
      <vt:lpstr>How Many Significant Digits?</vt:lpstr>
      <vt:lpstr>How Many Significant Digits? (Contd.)</vt:lpstr>
      <vt:lpstr>How Many Significant Digits? (Contd.)</vt:lpstr>
      <vt:lpstr>How Many Significant Digits? (Contd.)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Rounding and Chopping</vt:lpstr>
      <vt:lpstr>Rounding and Chopping - Example</vt:lpstr>
      <vt:lpstr>PowerPoint Presentation</vt:lpstr>
      <vt:lpstr>PowerPoint Presentation</vt:lpstr>
      <vt:lpstr>Notation</vt:lpstr>
      <vt:lpstr>Summary</vt:lpstr>
      <vt:lpstr>Lectures 3-4 Taylor Theorem</vt:lpstr>
      <vt:lpstr>Motivation</vt:lpstr>
      <vt:lpstr>Taylor Series</vt:lpstr>
      <vt:lpstr>Taylor Series – Example 1</vt:lpstr>
      <vt:lpstr>Taylor Series Example 1</vt:lpstr>
      <vt:lpstr>Taylor Series – Example 2</vt:lpstr>
      <vt:lpstr>PowerPoint Presentation</vt:lpstr>
      <vt:lpstr>Convergence of Taylor Series (Observations, Example 1)</vt:lpstr>
      <vt:lpstr>Taylor Series – Example 3</vt:lpstr>
      <vt:lpstr>Example 3 – Remarks</vt:lpstr>
      <vt:lpstr>Taylor’s Theorem</vt:lpstr>
      <vt:lpstr>Taylor’s Theorem</vt:lpstr>
      <vt:lpstr>Error Term</vt:lpstr>
      <vt:lpstr>Error Term – Example 4</vt:lpstr>
      <vt:lpstr>Alternative form of Taylor’s Theorem</vt:lpstr>
      <vt:lpstr>Taylor’s  Theorem – Alternative forms</vt:lpstr>
      <vt:lpstr>Mean Value Theorem</vt:lpstr>
      <vt:lpstr>Alternating Series Theorem</vt:lpstr>
      <vt:lpstr>Alternating Series – Example 5</vt:lpstr>
      <vt:lpstr>Example 6</vt:lpstr>
      <vt:lpstr>Example 6 – Taylor Series</vt:lpstr>
      <vt:lpstr>Example 6 – Error Term</vt:lpstr>
      <vt:lpstr>Remark</vt:lpstr>
      <vt:lpstr>Maclaurin Series</vt:lpstr>
      <vt:lpstr>Maclaurin Series – Example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</dc:title>
  <dc:subject>CISE 301</dc:subject>
  <dc:creator>KFUPM</dc:creator>
  <cp:lastModifiedBy>Alfiana Ramadhani</cp:lastModifiedBy>
  <cp:revision>306</cp:revision>
  <dcterms:created xsi:type="dcterms:W3CDTF">2002-11-14T22:58:36Z</dcterms:created>
  <dcterms:modified xsi:type="dcterms:W3CDTF">2026-02-11T07:25:33Z</dcterms:modified>
</cp:coreProperties>
</file>